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64" r:id="rId4"/>
    <p:sldId id="265" r:id="rId5"/>
    <p:sldId id="258" r:id="rId6"/>
    <p:sldId id="259" r:id="rId7"/>
    <p:sldId id="260" r:id="rId8"/>
    <p:sldId id="261" r:id="rId9"/>
    <p:sldId id="262" r:id="rId10"/>
    <p:sldId id="266" r:id="rId11"/>
    <p:sldId id="263"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Jcngd7sXPErL8GQoYOiWWZ/u7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7" name="Google Shape;117;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1"/>
        <p:cNvGrpSpPr/>
        <p:nvPr/>
      </p:nvGrpSpPr>
      <p:grpSpPr>
        <a:xfrm>
          <a:off x="0" y="0"/>
          <a:ext cx="0" cy="0"/>
          <a:chOff x="0" y="0"/>
          <a:chExt cx="0" cy="0"/>
        </a:xfrm>
      </p:grpSpPr>
      <p:sp>
        <p:nvSpPr>
          <p:cNvPr id="12" name="Google Shape;12;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7"/>
        <p:cNvGrpSpPr/>
        <p:nvPr/>
      </p:nvGrpSpPr>
      <p:grpSpPr>
        <a:xfrm>
          <a:off x="0" y="0"/>
          <a:ext cx="0" cy="0"/>
          <a:chOff x="0" y="0"/>
          <a:chExt cx="0" cy="0"/>
        </a:xfrm>
      </p:grpSpPr>
      <p:sp>
        <p:nvSpPr>
          <p:cNvPr id="18" name="Google Shape;18;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3"/>
        <p:cNvGrpSpPr/>
        <p:nvPr/>
      </p:nvGrpSpPr>
      <p:grpSpPr>
        <a:xfrm>
          <a:off x="0" y="0"/>
          <a:ext cx="0" cy="0"/>
          <a:chOff x="0" y="0"/>
          <a:chExt cx="0" cy="0"/>
        </a:xfrm>
      </p:grpSpPr>
      <p:sp>
        <p:nvSpPr>
          <p:cNvPr id="24" name="Google Shape;24;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9"/>
        <p:cNvGrpSpPr/>
        <p:nvPr/>
      </p:nvGrpSpPr>
      <p:grpSpPr>
        <a:xfrm>
          <a:off x="0" y="0"/>
          <a:ext cx="0" cy="0"/>
          <a:chOff x="0" y="0"/>
          <a:chExt cx="0" cy="0"/>
        </a:xfrm>
      </p:grpSpPr>
      <p:sp>
        <p:nvSpPr>
          <p:cNvPr id="30" name="Google Shape;30;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6"/>
        <p:cNvGrpSpPr/>
        <p:nvPr/>
      </p:nvGrpSpPr>
      <p:grpSpPr>
        <a:xfrm>
          <a:off x="0" y="0"/>
          <a:ext cx="0" cy="0"/>
          <a:chOff x="0" y="0"/>
          <a:chExt cx="0" cy="0"/>
        </a:xfrm>
      </p:grpSpPr>
      <p:sp>
        <p:nvSpPr>
          <p:cNvPr id="37" name="Google Shape;37;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5"/>
        <p:cNvGrpSpPr/>
        <p:nvPr/>
      </p:nvGrpSpPr>
      <p:grpSpPr>
        <a:xfrm>
          <a:off x="0" y="0"/>
          <a:ext cx="0" cy="0"/>
          <a:chOff x="0" y="0"/>
          <a:chExt cx="0" cy="0"/>
        </a:xfrm>
      </p:grpSpPr>
      <p:sp>
        <p:nvSpPr>
          <p:cNvPr id="46" name="Google Shape;4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0"/>
        <p:cNvGrpSpPr/>
        <p:nvPr/>
      </p:nvGrpSpPr>
      <p:grpSpPr>
        <a:xfrm>
          <a:off x="0" y="0"/>
          <a:ext cx="0" cy="0"/>
          <a:chOff x="0" y="0"/>
          <a:chExt cx="0" cy="0"/>
        </a:xfrm>
      </p:grpSpPr>
      <p:sp>
        <p:nvSpPr>
          <p:cNvPr id="51" name="Google Shape;51;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4"/>
        <p:cNvGrpSpPr/>
        <p:nvPr/>
      </p:nvGrpSpPr>
      <p:grpSpPr>
        <a:xfrm>
          <a:off x="0" y="0"/>
          <a:ext cx="0" cy="0"/>
          <a:chOff x="0" y="0"/>
          <a:chExt cx="0" cy="0"/>
        </a:xfrm>
      </p:grpSpPr>
      <p:sp>
        <p:nvSpPr>
          <p:cNvPr id="55" name="Google Shape;55;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3"/>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3"/>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4"/>
          <p:cNvSpPr>
            <a:spLocks noGrp="1"/>
          </p:cNvSpPr>
          <p:nvPr>
            <p:ph type="pic" idx="2"/>
          </p:nvPr>
        </p:nvSpPr>
        <p:spPr>
          <a:xfrm>
            <a:off x="5183188" y="987425"/>
            <a:ext cx="6172200" cy="4873625"/>
          </a:xfrm>
          <a:prstGeom prst="rect">
            <a:avLst/>
          </a:prstGeom>
          <a:noFill/>
          <a:ln>
            <a:noFill/>
          </a:ln>
        </p:spPr>
      </p:sp>
      <p:sp>
        <p:nvSpPr>
          <p:cNvPr id="64" name="Google Shape;64;p2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5"/>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4"/>
        <p:cNvGrpSpPr/>
        <p:nvPr/>
      </p:nvGrpSpPr>
      <p:grpSpPr>
        <a:xfrm>
          <a:off x="0" y="0"/>
          <a:ext cx="0" cy="0"/>
          <a:chOff x="0" y="0"/>
          <a:chExt cx="0" cy="0"/>
        </a:xfrm>
      </p:grpSpPr>
      <p:sp>
        <p:nvSpPr>
          <p:cNvPr id="75" name="Google Shape;75;p26"/>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6"/>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6" name="Rectangle 85"/>
          <p:cNvSpPr/>
          <p:nvPr/>
        </p:nvSpPr>
        <p:spPr>
          <a:xfrm>
            <a:off x="0" y="0"/>
            <a:ext cx="6903720" cy="6858000"/>
          </a:xfrm>
          <a:prstGeom prst="rect">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4" name="Google Shape;84;p1"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85" name="Google Shape;85;p1"/>
          <p:cNvSpPr txBox="1"/>
          <p:nvPr/>
        </p:nvSpPr>
        <p:spPr>
          <a:xfrm>
            <a:off x="640080" y="2148840"/>
            <a:ext cx="5669280" cy="2377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600"/>
              </a:spcAft>
              <a:buNone/>
            </a:pPr>
            <a:r>
              <a:rPr lang="es-CL" sz="5800" b="1" i="0" u="none" strike="noStrike" cap="none">
                <a:solidFill>
                  <a:srgbClr val="FFFFFF"/>
                </a:solidFill>
                <a:latin typeface="Cambria"/>
                <a:ea typeface="Calibri"/>
                <a:cs typeface="Calibri"/>
                <a:sym typeface="Calibri"/>
              </a:rPr>
              <a:t>LOGISLA</a:t>
            </a:r>
            <a:endParaRPr/>
          </a:p>
          <a:p>
            <a:pPr marL="0" marR="0" lvl="0" indent="0" algn="l" rtl="0">
              <a:spcBef>
                <a:spcPts val="0"/>
              </a:spcBef>
              <a:spcAft>
                <a:spcPts val="1400"/>
              </a:spcAft>
              <a:buNone/>
            </a:pPr>
            <a:r>
              <a:rPr lang="es-CL" sz="1500" b="1" i="0" u="none" strike="noStrike" cap="none">
                <a:solidFill>
                  <a:srgbClr val="FF6B4A"/>
                </a:solidFill>
                <a:latin typeface="Calibri"/>
                <a:ea typeface="Calibri"/>
                <a:cs typeface="Calibri"/>
                <a:sym typeface="Calibri"/>
              </a:rPr>
              <a:t>AUDITORÍA INTELIGENTE DE SLA DE TRANSPORTE</a:t>
            </a:r>
            <a:endParaRPr sz="2400">
              <a:solidFill>
                <a:schemeClr val="dk1"/>
              </a:solidFill>
              <a:latin typeface="Calibri"/>
              <a:ea typeface="Calibri"/>
              <a:cs typeface="Calibri"/>
              <a:sym typeface="Calibri"/>
            </a:endParaRPr>
          </a:p>
          <a:p>
            <a:pPr marL="0" marR="0" lvl="0" indent="0" algn="l" rtl="0">
              <a:spcBef>
                <a:spcPts val="0"/>
              </a:spcBef>
              <a:spcAft>
                <a:spcPts val="0"/>
              </a:spcAft>
              <a:buNone/>
            </a:pPr>
            <a:r>
              <a:rPr sz="1300" b="0" u="none">
                <a:solidFill>
                  <a:srgbClr val="C9DAEB"/>
                </a:solidFill>
                <a:latin typeface="Calibri"/>
              </a:rPr>
              <a:t>Presentación Final  ·  Proyecto APT  ·  Duoc UC</a:t>
            </a:r>
            <a:endParaRPr sz="2400">
              <a:solidFill>
                <a:schemeClr val="dk1"/>
              </a:solidFill>
              <a:latin typeface="Calibri"/>
              <a:ea typeface="Calibri"/>
              <a:cs typeface="Calibri"/>
              <a:sym typeface="Calibri"/>
            </a:endParaRPr>
          </a:p>
        </p:txBody>
      </p:sp>
      <p:sp>
        <p:nvSpPr>
          <p:cNvPr id="87" name="Rounded Rectangle 86"/>
          <p:cNvSpPr/>
          <p:nvPr/>
        </p:nvSpPr>
        <p:spPr>
          <a:xfrm>
            <a:off x="640080" y="4617720"/>
            <a:ext cx="4160520" cy="457200"/>
          </a:xfrm>
          <a:prstGeom prst="roundRect">
            <a:avLst>
              <a:gd name="adj" fmla="val 50000"/>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300" b="1">
                <a:solidFill>
                  <a:srgbClr val="FFFFFF"/>
                </a:solidFill>
                <a:latin typeface="Calibri"/>
              </a:rPr>
              <a:t>MOTOR PROPIO  +  IA GENERATIVA</a:t>
            </a:r>
          </a:p>
        </p:txBody>
      </p:sp>
      <p:sp>
        <p:nvSpPr>
          <p:cNvPr id="88" name="TextBox 87"/>
          <p:cNvSpPr txBox="1"/>
          <p:nvPr/>
        </p:nvSpPr>
        <p:spPr>
          <a:xfrm>
            <a:off x="640080" y="6172200"/>
            <a:ext cx="5486400" cy="365760"/>
          </a:xfrm>
          <a:prstGeom prst="rect">
            <a:avLst/>
          </a:prstGeom>
          <a:noFill/>
        </p:spPr>
        <p:txBody>
          <a:bodyPr wrap="square" lIns="0" tIns="0" rIns="0" bIns="0">
            <a:spAutoFit/>
          </a:bodyPr>
          <a:lstStyle/>
          <a:p>
            <a:pPr algn="l"/>
            <a:r>
              <a:rPr sz="1200" b="0" i="0">
                <a:solidFill>
                  <a:srgbClr val="C9DAEB"/>
                </a:solidFill>
                <a:latin typeface="Calibri"/>
              </a:rPr>
              <a:t>Sebastián Acuña  ·  José Salvatierra</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pic>
        <p:nvPicPr>
          <p:cNvPr id="90" name="Google Shape;90;p2"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01" name="Google Shape;101;p2"/>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b="0" i="0" u="none" strike="noStrike" cap="none">
                <a:solidFill>
                  <a:srgbClr val="757070"/>
                </a:solidFill>
                <a:latin typeface="Calibri"/>
                <a:ea typeface="Calibri"/>
                <a:cs typeface="Calibri"/>
                <a:sym typeface="Calibri"/>
              </a:rPr>
              <a:t>PROYECTO “LOGISLA”</a:t>
            </a:r>
            <a:endParaRPr/>
          </a:p>
        </p:txBody>
      </p:sp>
      <p:sp>
        <p:nvSpPr>
          <p:cNvPr id="102" name="Google Shape;102;p2"/>
          <p:cNvSpPr txBox="1"/>
          <p:nvPr/>
        </p:nvSpPr>
        <p:spPr>
          <a:xfrm>
            <a:off x="0" y="1097280"/>
            <a:ext cx="12191695" cy="64008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200" b="0" u="none">
                <a:solidFill>
                  <a:srgbClr val="1B2A41"/>
                </a:solidFill>
                <a:latin typeface="Calibri"/>
                <a:ea typeface="Calibri"/>
                <a:cs typeface="Calibri"/>
                <a:sym typeface="Calibri"/>
              </a:rPr>
              <a:t>INTEGRANTES DEL PROYECTO</a:t>
            </a:r>
            <a:endParaRPr sz="1800">
              <a:solidFill>
                <a:schemeClr val="dk1"/>
              </a:solidFill>
              <a:latin typeface="Calibri"/>
              <a:ea typeface="Calibri"/>
              <a:cs typeface="Calibri"/>
              <a:sym typeface="Calibri"/>
            </a:endParaRPr>
          </a:p>
        </p:txBody>
      </p:sp>
      <p:sp>
        <p:nvSpPr>
          <p:cNvPr id="103" name="Rounded Rectangle 102"/>
          <p:cNvSpPr/>
          <p:nvPr/>
        </p:nvSpPr>
        <p:spPr>
          <a:xfrm>
            <a:off x="687171" y="2057400"/>
            <a:ext cx="5257800" cy="3977639"/>
          </a:xfrm>
          <a:prstGeom prst="roundRect">
            <a:avLst>
              <a:gd name="adj" fmla="val 6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1075791" y="2446020"/>
            <a:ext cx="960120" cy="9601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Calibri"/>
              </a:rPr>
              <a:t>SA</a:t>
            </a:r>
          </a:p>
        </p:txBody>
      </p:sp>
      <p:sp>
        <p:nvSpPr>
          <p:cNvPr id="105" name="TextBox 104"/>
          <p:cNvSpPr txBox="1"/>
          <p:nvPr/>
        </p:nvSpPr>
        <p:spPr>
          <a:xfrm>
            <a:off x="2195931" y="2560320"/>
            <a:ext cx="3520440" cy="411480"/>
          </a:xfrm>
          <a:prstGeom prst="rect">
            <a:avLst/>
          </a:prstGeom>
          <a:noFill/>
        </p:spPr>
        <p:txBody>
          <a:bodyPr wrap="square" lIns="0" tIns="0" rIns="0" bIns="0" anchor="ctr">
            <a:spAutoFit/>
          </a:bodyPr>
          <a:lstStyle/>
          <a:p>
            <a:pPr algn="l"/>
            <a:r>
              <a:rPr sz="1900" b="1" i="0">
                <a:solidFill>
                  <a:srgbClr val="0B2545"/>
                </a:solidFill>
                <a:latin typeface="Cambria"/>
              </a:rPr>
              <a:t>Sebastián Acuña</a:t>
            </a:r>
          </a:p>
        </p:txBody>
      </p:sp>
      <p:sp>
        <p:nvSpPr>
          <p:cNvPr id="106" name="TextBox 105"/>
          <p:cNvSpPr txBox="1"/>
          <p:nvPr/>
        </p:nvSpPr>
        <p:spPr>
          <a:xfrm>
            <a:off x="2195931" y="2971800"/>
            <a:ext cx="3520440" cy="365760"/>
          </a:xfrm>
          <a:prstGeom prst="rect">
            <a:avLst/>
          </a:prstGeom>
          <a:noFill/>
        </p:spPr>
        <p:txBody>
          <a:bodyPr wrap="square" lIns="0" tIns="0" rIns="0" bIns="0" anchor="ctr">
            <a:spAutoFit/>
          </a:bodyPr>
          <a:lstStyle/>
          <a:p>
            <a:pPr algn="l"/>
            <a:r>
              <a:rPr sz="1150" b="1" i="0">
                <a:solidFill>
                  <a:srgbClr val="FF6B4A"/>
                </a:solidFill>
                <a:latin typeface="Calibri"/>
              </a:rPr>
              <a:t>DESARROLLADOR BACKEND &amp; GCP</a:t>
            </a:r>
          </a:p>
        </p:txBody>
      </p:sp>
      <p:sp>
        <p:nvSpPr>
          <p:cNvPr id="107" name="TextBox 106"/>
          <p:cNvSpPr txBox="1"/>
          <p:nvPr/>
        </p:nvSpPr>
        <p:spPr>
          <a:xfrm>
            <a:off x="1190091" y="3840480"/>
            <a:ext cx="4251960" cy="365760"/>
          </a:xfrm>
          <a:prstGeom prst="rect">
            <a:avLst/>
          </a:prstGeom>
          <a:noFill/>
        </p:spPr>
        <p:txBody>
          <a:bodyPr wrap="square" lIns="0" tIns="0" rIns="0" bIns="0">
            <a:spAutoFit/>
          </a:bodyPr>
          <a:lstStyle/>
          <a:p>
            <a:pPr algn="l"/>
            <a:r>
              <a:rPr sz="1050" b="1" i="0">
                <a:solidFill>
                  <a:srgbClr val="0E7C86"/>
                </a:solidFill>
                <a:latin typeface="Calibri"/>
              </a:rPr>
              <a:t>RESPONSABILIDADES EN EL PROYECTO</a:t>
            </a:r>
          </a:p>
        </p:txBody>
      </p:sp>
      <p:sp>
        <p:nvSpPr>
          <p:cNvPr id="108" name="TextBox 107"/>
          <p:cNvSpPr txBox="1"/>
          <p:nvPr/>
        </p:nvSpPr>
        <p:spPr>
          <a:xfrm>
            <a:off x="1190091" y="4206240"/>
            <a:ext cx="4251960" cy="1645919"/>
          </a:xfrm>
          <a:prstGeom prst="rect">
            <a:avLst/>
          </a:prstGeom>
          <a:noFill/>
        </p:spPr>
        <p:txBody>
          <a:bodyPr wrap="square" lIns="0" tIns="0" rIns="0" bIns="0">
            <a:spAutoFit/>
          </a:bodyPr>
          <a:lstStyle/>
          <a:p>
            <a:pPr algn="l">
              <a:lnSpc>
                <a:spcPct val="115000"/>
              </a:lnSpc>
            </a:pPr>
            <a:r>
              <a:rPr sz="1250" b="0" i="0">
                <a:solidFill>
                  <a:srgbClr val="1B2A41"/>
                </a:solidFill>
                <a:latin typeface="Calibri"/>
              </a:rPr>
              <a:t>Motor de auditoría en Python (Pandas + Workalendar), modelado de datos en PostgreSQL, integración del módulo de IA generativa (API Claude) y despliegue en GCP (Cloud Run, CI/CD).</a:t>
            </a:r>
          </a:p>
        </p:txBody>
      </p:sp>
      <p:sp>
        <p:nvSpPr>
          <p:cNvPr id="109" name="Rounded Rectangle 108"/>
          <p:cNvSpPr/>
          <p:nvPr/>
        </p:nvSpPr>
        <p:spPr>
          <a:xfrm>
            <a:off x="6246723" y="2057400"/>
            <a:ext cx="5257800" cy="3977639"/>
          </a:xfrm>
          <a:prstGeom prst="roundRect">
            <a:avLst>
              <a:gd name="adj" fmla="val 6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0" name="Oval 109"/>
          <p:cNvSpPr/>
          <p:nvPr/>
        </p:nvSpPr>
        <p:spPr>
          <a:xfrm>
            <a:off x="6635343" y="2446020"/>
            <a:ext cx="960120" cy="9601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600" b="1">
                <a:solidFill>
                  <a:srgbClr val="FFFFFF"/>
                </a:solidFill>
                <a:latin typeface="Calibri"/>
              </a:rPr>
              <a:t>JS</a:t>
            </a:r>
          </a:p>
        </p:txBody>
      </p:sp>
      <p:sp>
        <p:nvSpPr>
          <p:cNvPr id="111" name="TextBox 110"/>
          <p:cNvSpPr txBox="1"/>
          <p:nvPr/>
        </p:nvSpPr>
        <p:spPr>
          <a:xfrm>
            <a:off x="7755483" y="2560320"/>
            <a:ext cx="3520440" cy="411480"/>
          </a:xfrm>
          <a:prstGeom prst="rect">
            <a:avLst/>
          </a:prstGeom>
          <a:noFill/>
        </p:spPr>
        <p:txBody>
          <a:bodyPr wrap="square" lIns="0" tIns="0" rIns="0" bIns="0" anchor="ctr">
            <a:spAutoFit/>
          </a:bodyPr>
          <a:lstStyle/>
          <a:p>
            <a:pPr algn="l"/>
            <a:r>
              <a:rPr sz="1900" b="1" i="0">
                <a:solidFill>
                  <a:srgbClr val="0B2545"/>
                </a:solidFill>
                <a:latin typeface="Cambria"/>
              </a:rPr>
              <a:t>José Salvatierra</a:t>
            </a:r>
          </a:p>
        </p:txBody>
      </p:sp>
      <p:sp>
        <p:nvSpPr>
          <p:cNvPr id="112" name="TextBox 111"/>
          <p:cNvSpPr txBox="1"/>
          <p:nvPr/>
        </p:nvSpPr>
        <p:spPr>
          <a:xfrm>
            <a:off x="7755483" y="2971800"/>
            <a:ext cx="3520440" cy="365760"/>
          </a:xfrm>
          <a:prstGeom prst="rect">
            <a:avLst/>
          </a:prstGeom>
          <a:noFill/>
        </p:spPr>
        <p:txBody>
          <a:bodyPr wrap="square" lIns="0" tIns="0" rIns="0" bIns="0" anchor="ctr">
            <a:spAutoFit/>
          </a:bodyPr>
          <a:lstStyle/>
          <a:p>
            <a:pPr algn="l"/>
            <a:r>
              <a:rPr sz="1150" b="1" i="0">
                <a:solidFill>
                  <a:srgbClr val="FF6B4A"/>
                </a:solidFill>
                <a:latin typeface="Calibri"/>
              </a:rPr>
              <a:t>DESARROLLADOR FRONTEND &amp; UX</a:t>
            </a:r>
          </a:p>
        </p:txBody>
      </p:sp>
      <p:sp>
        <p:nvSpPr>
          <p:cNvPr id="113" name="TextBox 112"/>
          <p:cNvSpPr txBox="1"/>
          <p:nvPr/>
        </p:nvSpPr>
        <p:spPr>
          <a:xfrm>
            <a:off x="6749643" y="3840480"/>
            <a:ext cx="4251960" cy="365760"/>
          </a:xfrm>
          <a:prstGeom prst="rect">
            <a:avLst/>
          </a:prstGeom>
          <a:noFill/>
        </p:spPr>
        <p:txBody>
          <a:bodyPr wrap="square" lIns="0" tIns="0" rIns="0" bIns="0">
            <a:spAutoFit/>
          </a:bodyPr>
          <a:lstStyle/>
          <a:p>
            <a:pPr algn="l"/>
            <a:r>
              <a:rPr sz="1050" b="1" i="0">
                <a:solidFill>
                  <a:srgbClr val="0E7C86"/>
                </a:solidFill>
                <a:latin typeface="Calibri"/>
              </a:rPr>
              <a:t>RESPONSABILIDADES EN EL PROYECTO</a:t>
            </a:r>
          </a:p>
        </p:txBody>
      </p:sp>
      <p:sp>
        <p:nvSpPr>
          <p:cNvPr id="114" name="TextBox 113"/>
          <p:cNvSpPr txBox="1"/>
          <p:nvPr/>
        </p:nvSpPr>
        <p:spPr>
          <a:xfrm>
            <a:off x="6749643" y="4206240"/>
            <a:ext cx="4251960" cy="1645919"/>
          </a:xfrm>
          <a:prstGeom prst="rect">
            <a:avLst/>
          </a:prstGeom>
          <a:noFill/>
        </p:spPr>
        <p:txBody>
          <a:bodyPr wrap="square" lIns="0" tIns="0" rIns="0" bIns="0">
            <a:spAutoFit/>
          </a:bodyPr>
          <a:lstStyle/>
          <a:p>
            <a:pPr algn="l">
              <a:lnSpc>
                <a:spcPct val="115000"/>
              </a:lnSpc>
            </a:pPr>
            <a:r>
              <a:rPr sz="1250" b="0" i="0">
                <a:solidFill>
                  <a:srgbClr val="1B2A41"/>
                </a:solidFill>
                <a:latin typeface="Calibri"/>
              </a:rPr>
              <a:t>Interfaz en Next.js: carga de archivos, mapeo de columnas, dashboard de KPIs y gráficos, exportación de reportes y pruebas end-to-end (Playwright).</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245" y="368503"/>
            <a:ext cx="11887200" cy="369417"/>
          </a:xfrm>
          <a:prstGeom prst="rect">
            <a:avLst/>
          </a:prstGeom>
          <a:noFill/>
        </p:spPr>
        <p:txBody>
          <a:bodyPr wrap="square" lIns="0" tIns="0" rIns="0" bIns="0">
            <a:spAutoFit/>
          </a:bodyPr>
          <a:lstStyle/>
          <a:p>
            <a:pPr algn="l"/>
            <a:r>
              <a:rPr sz="1800" b="0" i="0">
                <a:solidFill>
                  <a:srgbClr val="757070"/>
                </a:solidFill>
                <a:latin typeface="Calibri"/>
              </a:rPr>
              <a:t>PROYECTO “LOGISLA”</a:t>
            </a:r>
          </a:p>
        </p:txBody>
      </p:sp>
      <p:pic>
        <p:nvPicPr>
          <p:cNvPr id="3" name="Picture 2" descr="image.jpg"/>
          <p:cNvPicPr>
            <a:picLocks noChangeAspect="1"/>
          </p:cNvPicPr>
          <p:nvPr/>
        </p:nvPicPr>
        <p:blipFill>
          <a:blip r:embed="rId2"/>
          <a:stretch>
            <a:fillRect/>
          </a:stretch>
        </p:blipFill>
        <p:spPr>
          <a:xfrm>
            <a:off x="8770010" y="207568"/>
            <a:ext cx="3141876" cy="785469"/>
          </a:xfrm>
          <a:prstGeom prst="rect">
            <a:avLst/>
          </a:prstGeom>
        </p:spPr>
      </p:pic>
      <p:cxnSp>
        <p:nvCxnSpPr>
          <p:cNvPr id="4" name="Connector 3"/>
          <p:cNvCxnSpPr/>
          <p:nvPr/>
        </p:nvCxnSpPr>
        <p:spPr>
          <a:xfrm>
            <a:off x="0" y="758037"/>
            <a:ext cx="4085539" cy="0"/>
          </a:xfrm>
          <a:prstGeom prst="line">
            <a:avLst/>
          </a:prstGeom>
          <a:ln w="15875">
            <a:solidFill>
              <a:srgbClr val="F5F7F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0" y="1131112"/>
            <a:ext cx="12191695" cy="646480"/>
          </a:xfrm>
          <a:prstGeom prst="rect">
            <a:avLst/>
          </a:prstGeom>
          <a:noFill/>
        </p:spPr>
        <p:txBody>
          <a:bodyPr wrap="square" lIns="0" tIns="0" rIns="0" bIns="0">
            <a:spAutoFit/>
          </a:bodyPr>
          <a:lstStyle/>
          <a:p>
            <a:pPr algn="ctr"/>
            <a:r>
              <a:rPr sz="3200" b="0" i="0">
                <a:solidFill>
                  <a:srgbClr val="1B2A41"/>
                </a:solidFill>
                <a:latin typeface="Calibri"/>
              </a:rPr>
              <a:t>Contexto y Relevancia del Proyecto APT</a:t>
            </a:r>
          </a:p>
        </p:txBody>
      </p:sp>
      <p:sp>
        <p:nvSpPr>
          <p:cNvPr id="6" name="Oval 5"/>
          <p:cNvSpPr/>
          <p:nvPr/>
        </p:nvSpPr>
        <p:spPr>
          <a:xfrm>
            <a:off x="630936" y="200253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1</a:t>
            </a:r>
          </a:p>
        </p:txBody>
      </p:sp>
      <p:sp>
        <p:nvSpPr>
          <p:cNvPr id="7" name="TextBox 6"/>
          <p:cNvSpPr txBox="1"/>
          <p:nvPr/>
        </p:nvSpPr>
        <p:spPr>
          <a:xfrm>
            <a:off x="1371600" y="1965960"/>
            <a:ext cx="10058400" cy="1325880"/>
          </a:xfrm>
          <a:prstGeom prst="rect">
            <a:avLst/>
          </a:prstGeom>
          <a:noFill/>
        </p:spPr>
        <p:txBody>
          <a:bodyPr wrap="square" lIns="0" tIns="0" rIns="0" bIns="0">
            <a:spAutoFit/>
          </a:bodyPr>
          <a:lstStyle/>
          <a:p>
            <a:pPr algn="l">
              <a:spcAft>
                <a:spcPts val="300"/>
              </a:spcAft>
            </a:pPr>
            <a:r>
              <a:rPr sz="1600" b="1" i="0">
                <a:solidFill>
                  <a:srgbClr val="0B2545"/>
                </a:solidFill>
                <a:latin typeface="Calibri"/>
              </a:rPr>
              <a:t>¿Qué es el Proyecto APT en LogiSLA?</a:t>
            </a:r>
          </a:p>
          <a:p>
            <a:pPr algn="l">
              <a:lnSpc>
                <a:spcPct val="112000"/>
              </a:lnSpc>
            </a:pPr>
            <a:r>
              <a:rPr sz="1250" b="0" i="0">
                <a:solidFill>
                  <a:srgbClr val="6B7686"/>
                </a:solidFill>
                <a:latin typeface="Calibri"/>
              </a:rPr>
              <a:t>El Proyecto APT integra, en un producto de software real, las competencias técnicas de la carrera. LogiSLA las aplica al construir una plataforma SaaS de auditoría de SLA logísticos con un motor propio y un módulo de IA generativa.</a:t>
            </a:r>
          </a:p>
        </p:txBody>
      </p:sp>
      <p:sp>
        <p:nvSpPr>
          <p:cNvPr id="8" name="Oval 7"/>
          <p:cNvSpPr/>
          <p:nvPr/>
        </p:nvSpPr>
        <p:spPr>
          <a:xfrm>
            <a:off x="630936" y="341985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2</a:t>
            </a:r>
          </a:p>
        </p:txBody>
      </p:sp>
      <p:sp>
        <p:nvSpPr>
          <p:cNvPr id="9" name="TextBox 8"/>
          <p:cNvSpPr txBox="1"/>
          <p:nvPr/>
        </p:nvSpPr>
        <p:spPr>
          <a:xfrm>
            <a:off x="1371600" y="3383280"/>
            <a:ext cx="10058400" cy="1325880"/>
          </a:xfrm>
          <a:prstGeom prst="rect">
            <a:avLst/>
          </a:prstGeom>
          <a:noFill/>
        </p:spPr>
        <p:txBody>
          <a:bodyPr wrap="square" lIns="0" tIns="0" rIns="0" bIns="0">
            <a:spAutoFit/>
          </a:bodyPr>
          <a:lstStyle/>
          <a:p>
            <a:pPr algn="l">
              <a:spcAft>
                <a:spcPts val="300"/>
              </a:spcAft>
            </a:pPr>
            <a:r>
              <a:rPr sz="1600" b="1" i="0">
                <a:solidFill>
                  <a:srgbClr val="0B2545"/>
                </a:solidFill>
                <a:latin typeface="Calibri"/>
              </a:rPr>
              <a:t>Relevancia para el campo laboral</a:t>
            </a:r>
          </a:p>
          <a:p>
            <a:pPr algn="l">
              <a:lnSpc>
                <a:spcPct val="112000"/>
              </a:lnSpc>
            </a:pPr>
            <a:r>
              <a:rPr sz="1250" b="0" i="0">
                <a:solidFill>
                  <a:srgbClr val="6B7686"/>
                </a:solidFill>
                <a:latin typeface="Calibri"/>
              </a:rPr>
              <a:t>El e-commerce y retail chileno mueven millones de envíos al mes, y auditar el cumplimiento de los contratos con transportistas sigue siendo, en la mayoría de las empresas, manual o inexistente. Perfiles capaces de construir motores de datos a escala, dashboards de negocio e integraciones de IA generativa son altamente demandados en logística, retail y consultoría de datos.</a:t>
            </a:r>
          </a:p>
        </p:txBody>
      </p:sp>
      <p:sp>
        <p:nvSpPr>
          <p:cNvPr id="10" name="Oval 9"/>
          <p:cNvSpPr/>
          <p:nvPr/>
        </p:nvSpPr>
        <p:spPr>
          <a:xfrm>
            <a:off x="630936" y="483717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3</a:t>
            </a:r>
          </a:p>
        </p:txBody>
      </p:sp>
      <p:sp>
        <p:nvSpPr>
          <p:cNvPr id="11" name="TextBox 10"/>
          <p:cNvSpPr txBox="1"/>
          <p:nvPr/>
        </p:nvSpPr>
        <p:spPr>
          <a:xfrm>
            <a:off x="1371600" y="4800600"/>
            <a:ext cx="10058400" cy="1325880"/>
          </a:xfrm>
          <a:prstGeom prst="rect">
            <a:avLst/>
          </a:prstGeom>
          <a:noFill/>
        </p:spPr>
        <p:txBody>
          <a:bodyPr wrap="square" lIns="0" tIns="0" rIns="0" bIns="0">
            <a:spAutoFit/>
          </a:bodyPr>
          <a:lstStyle/>
          <a:p>
            <a:pPr algn="l">
              <a:spcAft>
                <a:spcPts val="300"/>
              </a:spcAft>
            </a:pPr>
            <a:r>
              <a:rPr sz="1600" b="1" i="0">
                <a:solidFill>
                  <a:srgbClr val="0B2545"/>
                </a:solidFill>
                <a:latin typeface="Calibri"/>
              </a:rPr>
              <a:t>Factibilidad dentro de la asignatura</a:t>
            </a:r>
          </a:p>
          <a:p>
            <a:pPr algn="l">
              <a:lnSpc>
                <a:spcPct val="112000"/>
              </a:lnSpc>
            </a:pPr>
            <a:r>
              <a:rPr sz="1250" b="0" i="0">
                <a:solidFill>
                  <a:srgbClr val="6B7686"/>
                </a:solidFill>
                <a:latin typeface="Calibri"/>
              </a:rPr>
              <a:t>Usa tecnologías open-source y niveles gratuitos de GCP, un dataset de entrada simple (CSV/Excel) sin integraciones externas críticas, y un alcance acotado a 2 personas en 12 semanas, validado sprint a sprint con entregas evaluables.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245" y="368503"/>
            <a:ext cx="11887200" cy="369417"/>
          </a:xfrm>
          <a:prstGeom prst="rect">
            <a:avLst/>
          </a:prstGeom>
          <a:noFill/>
        </p:spPr>
        <p:txBody>
          <a:bodyPr wrap="square" lIns="0" tIns="0" rIns="0" bIns="0">
            <a:spAutoFit/>
          </a:bodyPr>
          <a:lstStyle/>
          <a:p>
            <a:pPr algn="l"/>
            <a:r>
              <a:rPr sz="1800" b="0" i="0">
                <a:solidFill>
                  <a:srgbClr val="757070"/>
                </a:solidFill>
                <a:latin typeface="Calibri"/>
              </a:rPr>
              <a:t>PROYECTO “LOGISLA”</a:t>
            </a:r>
          </a:p>
        </p:txBody>
      </p:sp>
      <p:pic>
        <p:nvPicPr>
          <p:cNvPr id="3" name="Picture 2" descr="image.jpg"/>
          <p:cNvPicPr>
            <a:picLocks noChangeAspect="1"/>
          </p:cNvPicPr>
          <p:nvPr/>
        </p:nvPicPr>
        <p:blipFill>
          <a:blip r:embed="rId2"/>
          <a:stretch>
            <a:fillRect/>
          </a:stretch>
        </p:blipFill>
        <p:spPr>
          <a:xfrm>
            <a:off x="8770010" y="207568"/>
            <a:ext cx="3141876" cy="785469"/>
          </a:xfrm>
          <a:prstGeom prst="rect">
            <a:avLst/>
          </a:prstGeom>
        </p:spPr>
      </p:pic>
      <p:cxnSp>
        <p:nvCxnSpPr>
          <p:cNvPr id="4" name="Connector 3"/>
          <p:cNvCxnSpPr/>
          <p:nvPr/>
        </p:nvCxnSpPr>
        <p:spPr>
          <a:xfrm>
            <a:off x="0" y="758037"/>
            <a:ext cx="4085539" cy="0"/>
          </a:xfrm>
          <a:prstGeom prst="line">
            <a:avLst/>
          </a:prstGeom>
          <a:ln w="15875">
            <a:solidFill>
              <a:srgbClr val="F5F7F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0" y="1131112"/>
            <a:ext cx="12191695" cy="646480"/>
          </a:xfrm>
          <a:prstGeom prst="rect">
            <a:avLst/>
          </a:prstGeom>
          <a:noFill/>
        </p:spPr>
        <p:txBody>
          <a:bodyPr wrap="square" lIns="0" tIns="0" rIns="0" bIns="0">
            <a:spAutoFit/>
          </a:bodyPr>
          <a:lstStyle/>
          <a:p>
            <a:pPr algn="ctr"/>
            <a:r>
              <a:rPr sz="3200" b="0" i="0">
                <a:solidFill>
                  <a:srgbClr val="1B2A41"/>
                </a:solidFill>
                <a:latin typeface="Calibri"/>
              </a:rPr>
              <a:t>Perfil de Egreso e Intereses Profesionales</a:t>
            </a:r>
          </a:p>
        </p:txBody>
      </p:sp>
      <p:sp>
        <p:nvSpPr>
          <p:cNvPr id="6" name="TextBox 5"/>
          <p:cNvSpPr txBox="1"/>
          <p:nvPr/>
        </p:nvSpPr>
        <p:spPr>
          <a:xfrm>
            <a:off x="548640" y="1828800"/>
            <a:ext cx="7315200" cy="365760"/>
          </a:xfrm>
          <a:prstGeom prst="rect">
            <a:avLst/>
          </a:prstGeom>
          <a:noFill/>
        </p:spPr>
        <p:txBody>
          <a:bodyPr wrap="square" lIns="0" tIns="0" rIns="0" bIns="0">
            <a:spAutoFit/>
          </a:bodyPr>
          <a:lstStyle/>
          <a:p>
            <a:pPr algn="l"/>
            <a:r>
              <a:rPr sz="1400" b="1" i="0">
                <a:solidFill>
                  <a:srgbClr val="0E7C86"/>
                </a:solidFill>
                <a:latin typeface="Calibri"/>
              </a:rPr>
              <a:t>COMPETENCIAS DEL PERFIL DE EGRESO APLICADAS EN LOGISLA</a:t>
            </a:r>
          </a:p>
        </p:txBody>
      </p:sp>
      <p:sp>
        <p:nvSpPr>
          <p:cNvPr id="7" name="Rounded Rectangle 6"/>
          <p:cNvSpPr/>
          <p:nvPr/>
        </p:nvSpPr>
        <p:spPr>
          <a:xfrm>
            <a:off x="548640" y="2286000"/>
            <a:ext cx="5349240" cy="1371600"/>
          </a:xfrm>
          <a:prstGeom prst="roundRect">
            <a:avLst>
              <a:gd name="adj" fmla="val 8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2450592"/>
            <a:ext cx="4800600" cy="365760"/>
          </a:xfrm>
          <a:prstGeom prst="rect">
            <a:avLst/>
          </a:prstGeom>
          <a:noFill/>
        </p:spPr>
        <p:txBody>
          <a:bodyPr wrap="square" lIns="0" tIns="0" rIns="0" bIns="0">
            <a:spAutoFit/>
          </a:bodyPr>
          <a:lstStyle/>
          <a:p>
            <a:pPr algn="l"/>
            <a:r>
              <a:rPr sz="1300" b="1" i="0">
                <a:solidFill>
                  <a:srgbClr val="0B2545"/>
                </a:solidFill>
                <a:latin typeface="Calibri"/>
              </a:rPr>
              <a:t>Gestionar proyectos informáticos</a:t>
            </a:r>
          </a:p>
        </p:txBody>
      </p:sp>
      <p:sp>
        <p:nvSpPr>
          <p:cNvPr id="9" name="TextBox 8"/>
          <p:cNvSpPr txBox="1"/>
          <p:nvPr/>
        </p:nvSpPr>
        <p:spPr>
          <a:xfrm>
            <a:off x="822959" y="2852928"/>
            <a:ext cx="4800600" cy="685800"/>
          </a:xfrm>
          <a:prstGeom prst="rect">
            <a:avLst/>
          </a:prstGeom>
          <a:noFill/>
        </p:spPr>
        <p:txBody>
          <a:bodyPr wrap="square" lIns="0" tIns="0" rIns="0" bIns="0">
            <a:spAutoFit/>
          </a:bodyPr>
          <a:lstStyle/>
          <a:p>
            <a:pPr algn="l">
              <a:lnSpc>
                <a:spcPct val="110000"/>
              </a:lnSpc>
            </a:pPr>
            <a:r>
              <a:rPr sz="1150" b="0" i="0">
                <a:solidFill>
                  <a:srgbClr val="1B2A41"/>
                </a:solidFill>
                <a:latin typeface="Calibri"/>
              </a:rPr>
              <a:t>Scrum en 6 sprints, tablero Kanban en Jira, cronograma con recursos y riesgos gestionados explícitamente.</a:t>
            </a:r>
          </a:p>
        </p:txBody>
      </p:sp>
      <p:sp>
        <p:nvSpPr>
          <p:cNvPr id="10" name="Rounded Rectangle 9"/>
          <p:cNvSpPr/>
          <p:nvPr/>
        </p:nvSpPr>
        <p:spPr>
          <a:xfrm>
            <a:off x="6172200" y="2286000"/>
            <a:ext cx="5349240" cy="1371600"/>
          </a:xfrm>
          <a:prstGeom prst="roundRect">
            <a:avLst>
              <a:gd name="adj" fmla="val 8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2450592"/>
            <a:ext cx="4800600" cy="365760"/>
          </a:xfrm>
          <a:prstGeom prst="rect">
            <a:avLst/>
          </a:prstGeom>
          <a:noFill/>
        </p:spPr>
        <p:txBody>
          <a:bodyPr wrap="square" lIns="0" tIns="0" rIns="0" bIns="0">
            <a:spAutoFit/>
          </a:bodyPr>
          <a:lstStyle/>
          <a:p>
            <a:pPr algn="l"/>
            <a:r>
              <a:rPr sz="1300" b="1" i="0">
                <a:solidFill>
                  <a:srgbClr val="0B2545"/>
                </a:solidFill>
                <a:latin typeface="Calibri"/>
              </a:rPr>
              <a:t>Construir modelos de datos</a:t>
            </a:r>
          </a:p>
        </p:txBody>
      </p:sp>
      <p:sp>
        <p:nvSpPr>
          <p:cNvPr id="12" name="TextBox 11"/>
          <p:cNvSpPr txBox="1"/>
          <p:nvPr/>
        </p:nvSpPr>
        <p:spPr>
          <a:xfrm>
            <a:off x="6446520" y="2852928"/>
            <a:ext cx="4800600" cy="685800"/>
          </a:xfrm>
          <a:prstGeom prst="rect">
            <a:avLst/>
          </a:prstGeom>
          <a:noFill/>
        </p:spPr>
        <p:txBody>
          <a:bodyPr wrap="square" lIns="0" tIns="0" rIns="0" bIns="0">
            <a:spAutoFit/>
          </a:bodyPr>
          <a:lstStyle/>
          <a:p>
            <a:pPr algn="l">
              <a:lnSpc>
                <a:spcPct val="110000"/>
              </a:lnSpc>
            </a:pPr>
            <a:r>
              <a:rPr sz="1150" b="0" i="0">
                <a:solidFill>
                  <a:srgbClr val="1B2A41"/>
                </a:solidFill>
                <a:latin typeface="Calibri"/>
              </a:rPr>
              <a:t>Modelado relacional en PostgreSQL: companies, carriers, sla_rules, shipments y audit_batches.</a:t>
            </a:r>
          </a:p>
        </p:txBody>
      </p:sp>
      <p:sp>
        <p:nvSpPr>
          <p:cNvPr id="13" name="Rounded Rectangle 12"/>
          <p:cNvSpPr/>
          <p:nvPr/>
        </p:nvSpPr>
        <p:spPr>
          <a:xfrm>
            <a:off x="548640" y="3794760"/>
            <a:ext cx="5349240" cy="1371600"/>
          </a:xfrm>
          <a:prstGeom prst="roundRect">
            <a:avLst>
              <a:gd name="adj" fmla="val 8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59" y="3959352"/>
            <a:ext cx="4800600" cy="365760"/>
          </a:xfrm>
          <a:prstGeom prst="rect">
            <a:avLst/>
          </a:prstGeom>
          <a:noFill/>
        </p:spPr>
        <p:txBody>
          <a:bodyPr wrap="square" lIns="0" tIns="0" rIns="0" bIns="0">
            <a:spAutoFit/>
          </a:bodyPr>
          <a:lstStyle/>
          <a:p>
            <a:pPr algn="l"/>
            <a:r>
              <a:rPr sz="1300" b="1" i="0">
                <a:solidFill>
                  <a:srgbClr val="0B2545"/>
                </a:solidFill>
                <a:latin typeface="Calibri"/>
              </a:rPr>
              <a:t>Desarrollar una solución de software</a:t>
            </a:r>
          </a:p>
        </p:txBody>
      </p:sp>
      <p:sp>
        <p:nvSpPr>
          <p:cNvPr id="15" name="TextBox 14"/>
          <p:cNvSpPr txBox="1"/>
          <p:nvPr/>
        </p:nvSpPr>
        <p:spPr>
          <a:xfrm>
            <a:off x="822959" y="4361688"/>
            <a:ext cx="4800600" cy="685800"/>
          </a:xfrm>
          <a:prstGeom prst="rect">
            <a:avLst/>
          </a:prstGeom>
          <a:noFill/>
        </p:spPr>
        <p:txBody>
          <a:bodyPr wrap="square" lIns="0" tIns="0" rIns="0" bIns="0">
            <a:spAutoFit/>
          </a:bodyPr>
          <a:lstStyle/>
          <a:p>
            <a:pPr algn="l">
              <a:lnSpc>
                <a:spcPct val="110000"/>
              </a:lnSpc>
            </a:pPr>
            <a:r>
              <a:rPr sz="1150" b="0" i="0">
                <a:solidFill>
                  <a:srgbClr val="1B2A41"/>
                </a:solidFill>
                <a:latin typeface="Calibri"/>
              </a:rPr>
              <a:t>Frontend en Next.js + backend en FastAPI + motor de auditoría en Pandas, integrados end-to-end con IA.</a:t>
            </a:r>
          </a:p>
        </p:txBody>
      </p:sp>
      <p:sp>
        <p:nvSpPr>
          <p:cNvPr id="16" name="Rounded Rectangle 15"/>
          <p:cNvSpPr/>
          <p:nvPr/>
        </p:nvSpPr>
        <p:spPr>
          <a:xfrm>
            <a:off x="6172200" y="3794760"/>
            <a:ext cx="5349240" cy="1371600"/>
          </a:xfrm>
          <a:prstGeom prst="roundRect">
            <a:avLst>
              <a:gd name="adj" fmla="val 8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46520" y="3959352"/>
            <a:ext cx="4800600" cy="365760"/>
          </a:xfrm>
          <a:prstGeom prst="rect">
            <a:avLst/>
          </a:prstGeom>
          <a:noFill/>
        </p:spPr>
        <p:txBody>
          <a:bodyPr wrap="square" lIns="0" tIns="0" rIns="0" bIns="0">
            <a:spAutoFit/>
          </a:bodyPr>
          <a:lstStyle/>
          <a:p>
            <a:pPr algn="l"/>
            <a:r>
              <a:rPr sz="1300" b="1" i="0">
                <a:solidFill>
                  <a:srgbClr val="0B2545"/>
                </a:solidFill>
                <a:latin typeface="Calibri"/>
              </a:rPr>
              <a:t>Realizar pruebas de certificación</a:t>
            </a:r>
          </a:p>
        </p:txBody>
      </p:sp>
      <p:sp>
        <p:nvSpPr>
          <p:cNvPr id="18" name="TextBox 17"/>
          <p:cNvSpPr txBox="1"/>
          <p:nvPr/>
        </p:nvSpPr>
        <p:spPr>
          <a:xfrm>
            <a:off x="6446520" y="4361688"/>
            <a:ext cx="4800600" cy="685800"/>
          </a:xfrm>
          <a:prstGeom prst="rect">
            <a:avLst/>
          </a:prstGeom>
          <a:noFill/>
        </p:spPr>
        <p:txBody>
          <a:bodyPr wrap="square" lIns="0" tIns="0" rIns="0" bIns="0">
            <a:spAutoFit/>
          </a:bodyPr>
          <a:lstStyle/>
          <a:p>
            <a:pPr algn="l">
              <a:lnSpc>
                <a:spcPct val="110000"/>
              </a:lnSpc>
            </a:pPr>
            <a:r>
              <a:rPr sz="1150" b="0" i="0">
                <a:solidFill>
                  <a:srgbClr val="1B2A41"/>
                </a:solidFill>
                <a:latin typeface="Calibri"/>
              </a:rPr>
              <a:t>Sprint 4 dedicado a testing de producto y de proceso: PyTest, Jest/RTL y Playwright.</a:t>
            </a:r>
          </a:p>
        </p:txBody>
      </p:sp>
      <p:sp>
        <p:nvSpPr>
          <p:cNvPr id="19" name="TextBox 18"/>
          <p:cNvSpPr txBox="1"/>
          <p:nvPr/>
        </p:nvSpPr>
        <p:spPr>
          <a:xfrm>
            <a:off x="548640" y="5349240"/>
            <a:ext cx="7315200" cy="365760"/>
          </a:xfrm>
          <a:prstGeom prst="rect">
            <a:avLst/>
          </a:prstGeom>
          <a:noFill/>
        </p:spPr>
        <p:txBody>
          <a:bodyPr wrap="square" lIns="0" tIns="0" rIns="0" bIns="0">
            <a:spAutoFit/>
          </a:bodyPr>
          <a:lstStyle/>
          <a:p>
            <a:pPr algn="l"/>
            <a:r>
              <a:rPr sz="1400" b="1" i="0">
                <a:solidFill>
                  <a:srgbClr val="FF6B4A"/>
                </a:solidFill>
                <a:latin typeface="Calibri"/>
              </a:rPr>
              <a:t>INTERESES PROFESIONALES DEL EQUIPO</a:t>
            </a:r>
          </a:p>
        </p:txBody>
      </p:sp>
      <p:sp>
        <p:nvSpPr>
          <p:cNvPr id="20" name="TextBox 19"/>
          <p:cNvSpPr txBox="1"/>
          <p:nvPr/>
        </p:nvSpPr>
        <p:spPr>
          <a:xfrm>
            <a:off x="548640" y="5715000"/>
            <a:ext cx="5349240" cy="822960"/>
          </a:xfrm>
          <a:prstGeom prst="rect">
            <a:avLst/>
          </a:prstGeom>
          <a:noFill/>
        </p:spPr>
        <p:txBody>
          <a:bodyPr wrap="square" lIns="0" tIns="0" rIns="0" bIns="0">
            <a:spAutoFit/>
          </a:bodyPr>
          <a:lstStyle/>
          <a:p>
            <a:pPr algn="l">
              <a:spcAft>
                <a:spcPts val="200"/>
              </a:spcAft>
            </a:pPr>
            <a:r>
              <a:rPr sz="1250" b="1" i="0">
                <a:solidFill>
                  <a:srgbClr val="0B2545"/>
                </a:solidFill>
                <a:latin typeface="Calibri"/>
              </a:rPr>
              <a:t>Sebastián Acuña</a:t>
            </a:r>
          </a:p>
          <a:p>
            <a:pPr algn="l">
              <a:lnSpc>
                <a:spcPct val="105000"/>
              </a:lnSpc>
            </a:pPr>
            <a:r>
              <a:rPr sz="1100" b="0" i="0">
                <a:solidFill>
                  <a:srgbClr val="6B7686"/>
                </a:solidFill>
                <a:latin typeface="Calibri"/>
              </a:rPr>
              <a:t>Ingeniería de datos y arquitectura cloud: este proyecto le permite diseñar un motor de procesamiento a escala y operarlo en GCP con prácticas reales de CI/CD.</a:t>
            </a:r>
          </a:p>
        </p:txBody>
      </p:sp>
      <p:sp>
        <p:nvSpPr>
          <p:cNvPr id="21" name="TextBox 20"/>
          <p:cNvSpPr txBox="1"/>
          <p:nvPr/>
        </p:nvSpPr>
        <p:spPr>
          <a:xfrm>
            <a:off x="6126479" y="5715000"/>
            <a:ext cx="5349240" cy="822960"/>
          </a:xfrm>
          <a:prstGeom prst="rect">
            <a:avLst/>
          </a:prstGeom>
          <a:noFill/>
        </p:spPr>
        <p:txBody>
          <a:bodyPr wrap="square" lIns="0" tIns="0" rIns="0" bIns="0">
            <a:spAutoFit/>
          </a:bodyPr>
          <a:lstStyle/>
          <a:p>
            <a:pPr algn="l">
              <a:spcAft>
                <a:spcPts val="200"/>
              </a:spcAft>
            </a:pPr>
            <a:r>
              <a:rPr sz="1250" b="1" i="0">
                <a:solidFill>
                  <a:srgbClr val="0B2545"/>
                </a:solidFill>
                <a:latin typeface="Calibri"/>
              </a:rPr>
              <a:t>José Salvatierra</a:t>
            </a:r>
          </a:p>
          <a:p>
            <a:pPr algn="l">
              <a:lnSpc>
                <a:spcPct val="105000"/>
              </a:lnSpc>
            </a:pPr>
            <a:r>
              <a:rPr sz="1100" b="0" i="0">
                <a:solidFill>
                  <a:srgbClr val="6B7686"/>
                </a:solidFill>
                <a:latin typeface="Calibri"/>
              </a:rPr>
              <a:t>Desarrollo de producto y experiencia de usuario: este proyecto le permite diseñar un dashboard que traduce datos complejos de auditoría en decisiones simples para el cliente.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3"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09" name="Google Shape;109;p3"/>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10" name="Google Shape;110;p3"/>
          <p:cNvSpPr txBox="1"/>
          <p:nvPr/>
        </p:nvSpPr>
        <p:spPr>
          <a:xfrm>
            <a:off x="0" y="1130849"/>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DESCRIPCIÓN DEL PROYECTO</a:t>
            </a:r>
            <a:endParaRPr sz="1800">
              <a:solidFill>
                <a:schemeClr val="dk1"/>
              </a:solidFill>
              <a:latin typeface="Calibri"/>
              <a:ea typeface="Calibri"/>
              <a:cs typeface="Calibri"/>
              <a:sym typeface="Calibri"/>
            </a:endParaRPr>
          </a:p>
        </p:txBody>
      </p:sp>
      <p:cxnSp>
        <p:nvCxnSpPr>
          <p:cNvPr id="111" name="Google Shape;111;p3"/>
          <p:cNvCxnSpPr/>
          <p:nvPr/>
        </p:nvCxnSpPr>
        <p:spPr>
          <a:xfrm>
            <a:off x="0" y="758027"/>
            <a:ext cx="4085617" cy="0"/>
          </a:xfrm>
          <a:prstGeom prst="straightConnector1">
            <a:avLst/>
          </a:prstGeom>
          <a:noFill/>
          <a:ln w="15875" cap="flat" cmpd="sng">
            <a:solidFill>
              <a:srgbClr val="F5F7FC"/>
            </a:solidFill>
            <a:prstDash val="solid"/>
            <a:miter lim="8000"/>
            <a:headEnd type="none" w="sm" len="sm"/>
            <a:tailEnd type="none" w="sm" len="sm"/>
          </a:ln>
        </p:spPr>
      </p:cxnSp>
      <p:sp>
        <p:nvSpPr>
          <p:cNvPr id="112" name="Google Shape;112;p3"/>
          <p:cNvSpPr/>
          <p:nvPr/>
        </p:nvSpPr>
        <p:spPr>
          <a:xfrm>
            <a:off x="714909" y="2169769"/>
            <a:ext cx="4348705" cy="4092601"/>
          </a:xfrm>
          <a:prstGeom prst="roundRect">
            <a:avLst>
              <a:gd name="adj" fmla="val 10901"/>
            </a:avLst>
          </a:prstGeom>
          <a:solidFill>
            <a:schemeClr val="lt1"/>
          </a:solidFill>
          <a:ln w="12700" cap="flat" cmpd="sng">
            <a:solidFill>
              <a:schemeClr val="accent1"/>
            </a:solidFill>
            <a:prstDash val="solid"/>
            <a:miter lim="8000"/>
            <a:headEnd type="none" w="sm" len="sm"/>
            <a:tailEnd type="none" w="sm" len="sm"/>
          </a:ln>
        </p:spPr>
        <p:txBody>
          <a:bodyPr spcFirstLastPara="1" wrap="square" lIns="365760" tIns="960120" rIns="365760" bIns="274320" anchor="t" anchorCtr="0">
            <a:noAutofit/>
          </a:bodyPr>
          <a:lstStyle/>
          <a:p>
            <a:pPr marL="0" marR="0" lvl="0" indent="0" algn="ctr" rtl="0">
              <a:spcBef>
                <a:spcPts val="0"/>
              </a:spcBef>
              <a:spcAft>
                <a:spcPts val="1200"/>
              </a:spcAft>
              <a:buNone/>
            </a:pPr>
            <a:r>
              <a:rPr sz="2200" b="1" u="none">
                <a:solidFill>
                  <a:srgbClr val="0B2545"/>
                </a:solidFill>
                <a:latin typeface="Cambria"/>
              </a:rPr>
              <a:t>Problema o dolor</a:t>
            </a:r>
            <a:endParaRPr/>
          </a:p>
          <a:p>
            <a:pPr algn="just">
              <a:lnSpc>
                <a:spcPct val="118000"/>
              </a:lnSpc>
            </a:pPr>
            <a:r>
              <a:rPr sz="1350">
                <a:solidFill>
                  <a:srgbClr val="1B2A41"/>
                </a:solidFill>
                <a:latin typeface="Calibri"/>
              </a:rPr>
              <a:t>Las empresas de e-commerce y retail pierden dinero porque transportistas como Chilexpress o Starken entregan tarde sus paquetes, y nadie audita de forma sistemática el cumplimiento de los SLA contractuales para exigir las multas o devoluciones de flete. Revisar miles de guías a mano es, en la práctica, inviable.</a:t>
            </a:r>
          </a:p>
        </p:txBody>
      </p:sp>
      <p:sp>
        <p:nvSpPr>
          <p:cNvPr id="113" name="Google Shape;113;p3"/>
          <p:cNvSpPr/>
          <p:nvPr/>
        </p:nvSpPr>
        <p:spPr>
          <a:xfrm>
            <a:off x="6912079" y="2177325"/>
            <a:ext cx="4348705" cy="4092601"/>
          </a:xfrm>
          <a:prstGeom prst="roundRect">
            <a:avLst>
              <a:gd name="adj" fmla="val 10901"/>
            </a:avLst>
          </a:prstGeom>
          <a:solidFill>
            <a:schemeClr val="lt1"/>
          </a:solidFill>
          <a:ln w="12700" cap="flat" cmpd="sng">
            <a:solidFill>
              <a:schemeClr val="accent1"/>
            </a:solidFill>
            <a:prstDash val="solid"/>
            <a:miter lim="8000"/>
            <a:headEnd type="none" w="sm" len="sm"/>
            <a:tailEnd type="none" w="sm" len="sm"/>
          </a:ln>
        </p:spPr>
        <p:txBody>
          <a:bodyPr spcFirstLastPara="1" wrap="square" lIns="365760" tIns="960120" rIns="365760" bIns="274320" anchor="t" anchorCtr="0">
            <a:noAutofit/>
          </a:bodyPr>
          <a:lstStyle/>
          <a:p>
            <a:pPr marL="0" marR="0" lvl="0" indent="0" algn="ctr" rtl="0">
              <a:spcBef>
                <a:spcPts val="0"/>
              </a:spcBef>
              <a:spcAft>
                <a:spcPts val="1200"/>
              </a:spcAft>
              <a:buNone/>
            </a:pPr>
            <a:r>
              <a:rPr sz="2200" b="1" u="none">
                <a:solidFill>
                  <a:srgbClr val="0B2545"/>
                </a:solidFill>
                <a:latin typeface="Cambria"/>
              </a:rPr>
              <a:t>Propuesta de solución</a:t>
            </a:r>
            <a:endParaRPr/>
          </a:p>
          <a:p>
            <a:pPr algn="just">
              <a:lnSpc>
                <a:spcPct val="118000"/>
              </a:lnSpc>
            </a:pPr>
            <a:r>
              <a:rPr sz="1350">
                <a:solidFill>
                  <a:srgbClr val="1B2A41"/>
                </a:solidFill>
                <a:latin typeface="Calibri"/>
              </a:rPr>
              <a:t>LogiSLA es una plataforma SaaS: el usuario sube un archivo CSV/Excel masivo (10.000+ filas) y un motor backend en Python audita los envíos en segundos, calculando tiempos de tránsito efectivos —descontando fines de semana y feriados chilenos— y aplicando matemáticamente las multas contractuales. Con IA generativa, redacta además el documento de reclamo listo para enviar al transportista.</a:t>
            </a:r>
          </a:p>
        </p:txBody>
      </p:sp>
      <p:sp>
        <p:nvSpPr>
          <p:cNvPr id="114" name="Google Shape;114;p3"/>
          <p:cNvSpPr/>
          <p:nvPr/>
        </p:nvSpPr>
        <p:spPr>
          <a:xfrm>
            <a:off x="5456903" y="3736258"/>
            <a:ext cx="1140542" cy="757084"/>
          </a:xfrm>
          <a:prstGeom prst="rightArrow">
            <a:avLst>
              <a:gd name="adj1" fmla="val 50000"/>
              <a:gd name="adj2" fmla="val 50000"/>
            </a:avLst>
          </a:prstGeom>
          <a:solidFill>
            <a:schemeClr val="accent1"/>
          </a:solidFill>
          <a:ln w="12700" cap="flat" cmpd="sng">
            <a:solidFill>
              <a:srgbClr val="1C30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5" name="Oval 114"/>
          <p:cNvSpPr/>
          <p:nvPr/>
        </p:nvSpPr>
        <p:spPr>
          <a:xfrm>
            <a:off x="2614941" y="2151481"/>
            <a:ext cx="548640" cy="548640"/>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a:t>
            </a:r>
          </a:p>
        </p:txBody>
      </p:sp>
      <p:sp>
        <p:nvSpPr>
          <p:cNvPr id="116" name="Oval 115"/>
          <p:cNvSpPr/>
          <p:nvPr/>
        </p:nvSpPr>
        <p:spPr>
          <a:xfrm>
            <a:off x="8812111" y="2159037"/>
            <a:ext cx="548640" cy="54864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2"/>
                                        </p:tgtEl>
                                        <p:attrNameLst>
                                          <p:attrName>style.visibility</p:attrName>
                                        </p:attrNameLst>
                                      </p:cBhvr>
                                      <p:to>
                                        <p:strVal val="visible"/>
                                      </p:to>
                                    </p:set>
                                    <p:animEffect transition="in" filter="fade">
                                      <p:cBhvr>
                                        <p:cTn id="7" dur="500"/>
                                        <p:tgtEl>
                                          <p:spTgt spid="1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4"/>
                                        </p:tgtEl>
                                        <p:attrNameLst>
                                          <p:attrName>style.visibility</p:attrName>
                                        </p:attrNameLst>
                                      </p:cBhvr>
                                      <p:to>
                                        <p:strVal val="visible"/>
                                      </p:to>
                                    </p:set>
                                    <p:animEffect transition="in" filter="fade">
                                      <p:cBhvr>
                                        <p:cTn id="12" dur="500"/>
                                        <p:tgtEl>
                                          <p:spTgt spid="114"/>
                                        </p:tgtEl>
                                      </p:cBhvr>
                                    </p:animEffect>
                                  </p:childTnLst>
                                </p:cTn>
                              </p:par>
                              <p:par>
                                <p:cTn id="13" presetID="10" presetClass="entr" presetSubtype="0" fill="hold" nodeType="withEffect">
                                  <p:stCondLst>
                                    <p:cond delay="0"/>
                                  </p:stCondLst>
                                  <p:childTnLst>
                                    <p:set>
                                      <p:cBhvr>
                                        <p:cTn id="14" dur="1" fill="hold">
                                          <p:stCondLst>
                                            <p:cond delay="0"/>
                                          </p:stCondLst>
                                        </p:cTn>
                                        <p:tgtEl>
                                          <p:spTgt spid="113"/>
                                        </p:tgtEl>
                                        <p:attrNameLst>
                                          <p:attrName>style.visibility</p:attrName>
                                        </p:attrNameLst>
                                      </p:cBhvr>
                                      <p:to>
                                        <p:strVal val="visible"/>
                                      </p:to>
                                    </p:set>
                                    <p:animEffect transition="in" filter="fade">
                                      <p:cBhvr>
                                        <p:cTn id="15"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pic>
        <p:nvPicPr>
          <p:cNvPr id="119" name="Google Shape;119;p4"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20" name="Google Shape;120;p4"/>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21" name="TextBox 120"/>
          <p:cNvSpPr txBox="1"/>
          <p:nvPr/>
        </p:nvSpPr>
        <p:spPr>
          <a:xfrm>
            <a:off x="548640" y="1051560"/>
            <a:ext cx="7315200" cy="411480"/>
          </a:xfrm>
          <a:prstGeom prst="rect">
            <a:avLst/>
          </a:prstGeom>
          <a:noFill/>
        </p:spPr>
        <p:txBody>
          <a:bodyPr wrap="square" lIns="0" tIns="0" rIns="0" bIns="0">
            <a:spAutoFit/>
          </a:bodyPr>
          <a:lstStyle/>
          <a:p>
            <a:pPr algn="l"/>
            <a:r>
              <a:rPr sz="2000" b="1" i="0">
                <a:solidFill>
                  <a:srgbClr val="0E7C86"/>
                </a:solidFill>
                <a:latin typeface="Calibri"/>
              </a:rPr>
              <a:t>OBJETIVO GENERAL</a:t>
            </a:r>
          </a:p>
        </p:txBody>
      </p:sp>
      <p:sp>
        <p:nvSpPr>
          <p:cNvPr id="122" name="Rounded Rectangle 121"/>
          <p:cNvSpPr/>
          <p:nvPr/>
        </p:nvSpPr>
        <p:spPr>
          <a:xfrm>
            <a:off x="548640" y="1508760"/>
            <a:ext cx="11091672" cy="1097280"/>
          </a:xfrm>
          <a:prstGeom prst="roundRect">
            <a:avLst>
              <a:gd name="adj" fmla="val 12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TextBox 122"/>
          <p:cNvSpPr txBox="1"/>
          <p:nvPr/>
        </p:nvSpPr>
        <p:spPr>
          <a:xfrm>
            <a:off x="914400" y="1508760"/>
            <a:ext cx="10378440" cy="1097280"/>
          </a:xfrm>
          <a:prstGeom prst="rect">
            <a:avLst/>
          </a:prstGeom>
          <a:noFill/>
        </p:spPr>
        <p:txBody>
          <a:bodyPr wrap="square" lIns="0" tIns="0" rIns="0" bIns="0" anchor="ctr">
            <a:spAutoFit/>
          </a:bodyPr>
          <a:lstStyle/>
          <a:p>
            <a:pPr algn="l">
              <a:lnSpc>
                <a:spcPct val="115000"/>
              </a:lnSpc>
            </a:pPr>
            <a:r>
              <a:rPr sz="1450" b="0" i="0">
                <a:solidFill>
                  <a:srgbClr val="1B2A41"/>
                </a:solidFill>
                <a:latin typeface="Calibri"/>
              </a:rPr>
              <a:t>Desarrollar LogiSLA, una plataforma SaaS que audite automáticamente el cumplimiento de los SLA de transporte a partir de archivos masivos de envíos, calculando de forma determinística las multas contractuales por atraso y generando —mediante IA generativa— los documentos de reclamo correspondientes, en un plazo de 12 semanas.</a:t>
            </a:r>
          </a:p>
        </p:txBody>
      </p:sp>
      <p:sp>
        <p:nvSpPr>
          <p:cNvPr id="124" name="TextBox 123"/>
          <p:cNvSpPr txBox="1"/>
          <p:nvPr/>
        </p:nvSpPr>
        <p:spPr>
          <a:xfrm>
            <a:off x="548640" y="2788920"/>
            <a:ext cx="7315200" cy="411480"/>
          </a:xfrm>
          <a:prstGeom prst="rect">
            <a:avLst/>
          </a:prstGeom>
          <a:noFill/>
        </p:spPr>
        <p:txBody>
          <a:bodyPr wrap="square" lIns="0" tIns="0" rIns="0" bIns="0">
            <a:spAutoFit/>
          </a:bodyPr>
          <a:lstStyle/>
          <a:p>
            <a:pPr algn="l"/>
            <a:r>
              <a:rPr sz="2000" b="1" i="0">
                <a:solidFill>
                  <a:srgbClr val="0E7C86"/>
                </a:solidFill>
                <a:latin typeface="Calibri"/>
              </a:rPr>
              <a:t>OBJETIVOS ESPECÍFICOS</a:t>
            </a:r>
          </a:p>
        </p:txBody>
      </p:sp>
      <p:sp>
        <p:nvSpPr>
          <p:cNvPr id="125" name="Oval 124"/>
          <p:cNvSpPr/>
          <p:nvPr/>
        </p:nvSpPr>
        <p:spPr>
          <a:xfrm>
            <a:off x="576072" y="3310127"/>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1</a:t>
            </a:r>
          </a:p>
        </p:txBody>
      </p:sp>
      <p:sp>
        <p:nvSpPr>
          <p:cNvPr id="126" name="TextBox 125"/>
          <p:cNvSpPr txBox="1"/>
          <p:nvPr/>
        </p:nvSpPr>
        <p:spPr>
          <a:xfrm>
            <a:off x="1170432" y="3246120"/>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Implementar la ingesta y el mapeo automático de columnas de archivos CSV/Excel de envíos (Sprint 1).</a:t>
            </a:r>
          </a:p>
        </p:txBody>
      </p:sp>
      <p:sp>
        <p:nvSpPr>
          <p:cNvPr id="127" name="Oval 126"/>
          <p:cNvSpPr/>
          <p:nvPr/>
        </p:nvSpPr>
        <p:spPr>
          <a:xfrm>
            <a:off x="576072" y="4334256"/>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2</a:t>
            </a:r>
          </a:p>
        </p:txBody>
      </p:sp>
      <p:sp>
        <p:nvSpPr>
          <p:cNvPr id="128" name="TextBox 127"/>
          <p:cNvSpPr txBox="1"/>
          <p:nvPr/>
        </p:nvSpPr>
        <p:spPr>
          <a:xfrm>
            <a:off x="1170432" y="4270248"/>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Construir el motor de auditoría en Python que calcule tiempos de tránsito y aplique las reglas de SLA (Sprint 2).</a:t>
            </a:r>
          </a:p>
        </p:txBody>
      </p:sp>
      <p:sp>
        <p:nvSpPr>
          <p:cNvPr id="129" name="Oval 128"/>
          <p:cNvSpPr/>
          <p:nvPr/>
        </p:nvSpPr>
        <p:spPr>
          <a:xfrm>
            <a:off x="576072" y="5358384"/>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3</a:t>
            </a:r>
          </a:p>
        </p:txBody>
      </p:sp>
      <p:sp>
        <p:nvSpPr>
          <p:cNvPr id="130" name="TextBox 129"/>
          <p:cNvSpPr txBox="1"/>
          <p:nvPr/>
        </p:nvSpPr>
        <p:spPr>
          <a:xfrm>
            <a:off x="1170432" y="5294376"/>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Desarrollar un dashboard interactivo con KPIs, gráficos y exportación de informes de reclamo (Sprint 3).</a:t>
            </a:r>
          </a:p>
        </p:txBody>
      </p:sp>
      <p:sp>
        <p:nvSpPr>
          <p:cNvPr id="131" name="Oval 130"/>
          <p:cNvSpPr/>
          <p:nvPr/>
        </p:nvSpPr>
        <p:spPr>
          <a:xfrm>
            <a:off x="6318503" y="3310127"/>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4</a:t>
            </a:r>
          </a:p>
        </p:txBody>
      </p:sp>
      <p:sp>
        <p:nvSpPr>
          <p:cNvPr id="132" name="TextBox 131"/>
          <p:cNvSpPr txBox="1"/>
          <p:nvPr/>
        </p:nvSpPr>
        <p:spPr>
          <a:xfrm>
            <a:off x="6912863" y="3246120"/>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Integrar un módulo de IA generativa que redacte cartas de reclamo y resúmenes ejecutivos (Sprint 3).</a:t>
            </a:r>
          </a:p>
        </p:txBody>
      </p:sp>
      <p:sp>
        <p:nvSpPr>
          <p:cNvPr id="133" name="Oval 132"/>
          <p:cNvSpPr/>
          <p:nvPr/>
        </p:nvSpPr>
        <p:spPr>
          <a:xfrm>
            <a:off x="6318503" y="4334256"/>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5</a:t>
            </a:r>
          </a:p>
        </p:txBody>
      </p:sp>
      <p:sp>
        <p:nvSpPr>
          <p:cNvPr id="134" name="TextBox 133"/>
          <p:cNvSpPr txBox="1"/>
          <p:nvPr/>
        </p:nvSpPr>
        <p:spPr>
          <a:xfrm>
            <a:off x="6912863" y="4270248"/>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Garantizar la calidad del sistema con pruebas unitarias, de integración y end-to-end (Sprint 4).</a:t>
            </a:r>
          </a:p>
        </p:txBody>
      </p:sp>
      <p:sp>
        <p:nvSpPr>
          <p:cNvPr id="135" name="Oval 134"/>
          <p:cNvSpPr/>
          <p:nvPr/>
        </p:nvSpPr>
        <p:spPr>
          <a:xfrm>
            <a:off x="6318503" y="5358384"/>
            <a:ext cx="457200" cy="45720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600" b="1">
                <a:solidFill>
                  <a:srgbClr val="FFFFFF"/>
                </a:solidFill>
                <a:latin typeface="Calibri"/>
              </a:rPr>
              <a:t>6</a:t>
            </a:r>
          </a:p>
        </p:txBody>
      </p:sp>
      <p:sp>
        <p:nvSpPr>
          <p:cNvPr id="136" name="TextBox 135"/>
          <p:cNvSpPr txBox="1"/>
          <p:nvPr/>
        </p:nvSpPr>
        <p:spPr>
          <a:xfrm>
            <a:off x="6912863" y="5294376"/>
            <a:ext cx="4709159" cy="914400"/>
          </a:xfrm>
          <a:prstGeom prst="rect">
            <a:avLst/>
          </a:prstGeom>
          <a:noFill/>
        </p:spPr>
        <p:txBody>
          <a:bodyPr wrap="square" lIns="0" tIns="0" rIns="0" bIns="0" anchor="ctr">
            <a:spAutoFit/>
          </a:bodyPr>
          <a:lstStyle/>
          <a:p>
            <a:pPr algn="l">
              <a:lnSpc>
                <a:spcPct val="110000"/>
              </a:lnSpc>
            </a:pPr>
            <a:r>
              <a:rPr sz="1250" b="0" i="0">
                <a:solidFill>
                  <a:srgbClr val="1B2A41"/>
                </a:solidFill>
                <a:latin typeface="Calibri"/>
              </a:rPr>
              <a:t>Desplegar la solución en GCP con un pipeline de CI/CD automatizado (Sprint 5).</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500"/>
                                        <p:tgtEl>
                                          <p:spTgt spid="123"/>
                                        </p:tgtEl>
                                      </p:cBhvr>
                                    </p:animEffect>
                                  </p:childTnLst>
                                </p:cTn>
                              </p:par>
                              <p:par>
                                <p:cTn id="8" presetID="10" presetClass="entr" presetSubtype="0" fill="hold"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fade">
                                      <p:cBhvr>
                                        <p:cTn id="10" dur="50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61" name="Rounded Rectangle 160"/>
          <p:cNvSpPr/>
          <p:nvPr/>
        </p:nvSpPr>
        <p:spPr>
          <a:xfrm>
            <a:off x="6153912" y="2011680"/>
            <a:ext cx="5715000" cy="429768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0" name="Rounded Rectangle 159"/>
          <p:cNvSpPr/>
          <p:nvPr/>
        </p:nvSpPr>
        <p:spPr>
          <a:xfrm>
            <a:off x="320040" y="2011680"/>
            <a:ext cx="5715000" cy="4297680"/>
          </a:xfrm>
          <a:prstGeom prst="roundRect">
            <a:avLst>
              <a:gd name="adj" fmla="val 5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0" name="Google Shape;130;p5"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1" name="Google Shape;131;p5"/>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32" name="Google Shape;132;p5"/>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Alcances y limitaciones del proyecto</a:t>
            </a:r>
            <a:endParaRPr/>
          </a:p>
        </p:txBody>
      </p:sp>
      <p:cxnSp>
        <p:nvCxnSpPr>
          <p:cNvPr id="133" name="Google Shape;133;p5"/>
          <p:cNvCxnSpPr/>
          <p:nvPr/>
        </p:nvCxnSpPr>
        <p:spPr>
          <a:xfrm>
            <a:off x="0" y="758027"/>
            <a:ext cx="4085617" cy="0"/>
          </a:xfrm>
          <a:prstGeom prst="straightConnector1">
            <a:avLst/>
          </a:prstGeom>
          <a:noFill/>
          <a:ln w="15875" cap="flat" cmpd="sng">
            <a:solidFill>
              <a:srgbClr val="F5F7FC"/>
            </a:solidFill>
            <a:prstDash val="solid"/>
            <a:miter lim="8000"/>
            <a:headEnd type="none" w="sm" len="sm"/>
            <a:tailEnd type="none" w="sm" len="sm"/>
          </a:ln>
        </p:spPr>
      </p:cxnSp>
      <p:sp>
        <p:nvSpPr>
          <p:cNvPr id="134" name="TextBox 133"/>
          <p:cNvSpPr txBox="1"/>
          <p:nvPr/>
        </p:nvSpPr>
        <p:spPr>
          <a:xfrm>
            <a:off x="548640" y="2148840"/>
            <a:ext cx="5257800" cy="365760"/>
          </a:xfrm>
          <a:prstGeom prst="rect">
            <a:avLst/>
          </a:prstGeom>
          <a:noFill/>
        </p:spPr>
        <p:txBody>
          <a:bodyPr wrap="square" lIns="0" tIns="0" rIns="0" bIns="0">
            <a:spAutoFit/>
          </a:bodyPr>
          <a:lstStyle/>
          <a:p>
            <a:pPr algn="l"/>
            <a:r>
              <a:rPr sz="1550" b="1" i="0">
                <a:solidFill>
                  <a:srgbClr val="0E7C86"/>
                </a:solidFill>
                <a:latin typeface="Calibri"/>
              </a:rPr>
              <a:t>ALCANCES DEL PROYECTO</a:t>
            </a:r>
          </a:p>
        </p:txBody>
      </p:sp>
      <p:sp>
        <p:nvSpPr>
          <p:cNvPr id="135" name="Oval 134"/>
          <p:cNvSpPr/>
          <p:nvPr/>
        </p:nvSpPr>
        <p:spPr>
          <a:xfrm>
            <a:off x="548640" y="2715768"/>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36" name="TextBox 135"/>
          <p:cNvSpPr txBox="1"/>
          <p:nvPr/>
        </p:nvSpPr>
        <p:spPr>
          <a:xfrm>
            <a:off x="1024127" y="2651760"/>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Carga masiva de archivos CSV/Excel (10.000+ filas) con mapeo automático o manual de columnas.</a:t>
            </a:r>
          </a:p>
        </p:txBody>
      </p:sp>
      <p:sp>
        <p:nvSpPr>
          <p:cNvPr id="137" name="Oval 136"/>
          <p:cNvSpPr/>
          <p:nvPr/>
        </p:nvSpPr>
        <p:spPr>
          <a:xfrm>
            <a:off x="548640" y="3214116"/>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38" name="TextBox 137"/>
          <p:cNvSpPr txBox="1"/>
          <p:nvPr/>
        </p:nvSpPr>
        <p:spPr>
          <a:xfrm>
            <a:off x="1024127" y="3150108"/>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Motor propio en Python: cálculo de horas hábiles descontando fines de semana y feriados chilenos.</a:t>
            </a:r>
          </a:p>
        </p:txBody>
      </p:sp>
      <p:sp>
        <p:nvSpPr>
          <p:cNvPr id="139" name="Oval 138"/>
          <p:cNvSpPr/>
          <p:nvPr/>
        </p:nvSpPr>
        <p:spPr>
          <a:xfrm>
            <a:off x="548640" y="3712463"/>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40" name="TextBox 139"/>
          <p:cNvSpPr txBox="1"/>
          <p:nvPr/>
        </p:nvSpPr>
        <p:spPr>
          <a:xfrm>
            <a:off x="1024127" y="3648456"/>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Motor de reglas de SLA con prioridad por especificidad (Carrier + Zona Origen + Zona Destino).</a:t>
            </a:r>
          </a:p>
        </p:txBody>
      </p:sp>
      <p:sp>
        <p:nvSpPr>
          <p:cNvPr id="141" name="Oval 140"/>
          <p:cNvSpPr/>
          <p:nvPr/>
        </p:nvSpPr>
        <p:spPr>
          <a:xfrm>
            <a:off x="548640" y="4210812"/>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42" name="TextBox 141"/>
          <p:cNvSpPr txBox="1"/>
          <p:nvPr/>
        </p:nvSpPr>
        <p:spPr>
          <a:xfrm>
            <a:off x="1024127" y="4146804"/>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Cálculo automático de multas por atraso; si falta el costo de flete, igual detecta el atraso y deja el monto pendiente de factura.</a:t>
            </a:r>
          </a:p>
        </p:txBody>
      </p:sp>
      <p:sp>
        <p:nvSpPr>
          <p:cNvPr id="143" name="Oval 142"/>
          <p:cNvSpPr/>
          <p:nvPr/>
        </p:nvSpPr>
        <p:spPr>
          <a:xfrm>
            <a:off x="548640" y="4709159"/>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44" name="TextBox 143"/>
          <p:cNvSpPr txBox="1"/>
          <p:nvPr/>
        </p:nvSpPr>
        <p:spPr>
          <a:xfrm>
            <a:off x="1024127" y="4645152"/>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Dashboard con KPIs, gráficos interactivos y tabla de envíos filtrable por semáforo.</a:t>
            </a:r>
          </a:p>
        </p:txBody>
      </p:sp>
      <p:sp>
        <p:nvSpPr>
          <p:cNvPr id="145" name="Oval 144"/>
          <p:cNvSpPr/>
          <p:nvPr/>
        </p:nvSpPr>
        <p:spPr>
          <a:xfrm>
            <a:off x="548640" y="5207507"/>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46" name="TextBox 145"/>
          <p:cNvSpPr txBox="1"/>
          <p:nvPr/>
        </p:nvSpPr>
        <p:spPr>
          <a:xfrm>
            <a:off x="1024127" y="5143500"/>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Generador de documentos con IA: cartas de reclamo por transportista y resumen ejecutivo.</a:t>
            </a:r>
          </a:p>
        </p:txBody>
      </p:sp>
      <p:sp>
        <p:nvSpPr>
          <p:cNvPr id="147" name="Oval 146"/>
          <p:cNvSpPr/>
          <p:nvPr/>
        </p:nvSpPr>
        <p:spPr>
          <a:xfrm>
            <a:off x="548640" y="5705855"/>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48" name="TextBox 147"/>
          <p:cNvSpPr txBox="1"/>
          <p:nvPr/>
        </p:nvSpPr>
        <p:spPr>
          <a:xfrm>
            <a:off x="1024127" y="5641848"/>
            <a:ext cx="4782312" cy="498348"/>
          </a:xfrm>
          <a:prstGeom prst="rect">
            <a:avLst/>
          </a:prstGeom>
          <a:noFill/>
        </p:spPr>
        <p:txBody>
          <a:bodyPr wrap="square" lIns="0" tIns="0" rIns="0" bIns="0">
            <a:spAutoFit/>
          </a:bodyPr>
          <a:lstStyle/>
          <a:p>
            <a:pPr algn="l">
              <a:lnSpc>
                <a:spcPct val="108000"/>
              </a:lnSpc>
            </a:pPr>
            <a:r>
              <a:rPr sz="1150" b="0" i="0">
                <a:solidFill>
                  <a:srgbClr val="1B2A41"/>
                </a:solidFill>
                <a:latin typeface="Calibri"/>
              </a:rPr>
              <a:t>Despliegue en GCP (Cloud Run, Cloud SQL, Cloud Storage) con CI/CD automatizado.</a:t>
            </a:r>
          </a:p>
        </p:txBody>
      </p:sp>
      <p:sp>
        <p:nvSpPr>
          <p:cNvPr id="149" name="TextBox 148"/>
          <p:cNvSpPr txBox="1"/>
          <p:nvPr/>
        </p:nvSpPr>
        <p:spPr>
          <a:xfrm>
            <a:off x="6382512" y="2148840"/>
            <a:ext cx="5257800" cy="365760"/>
          </a:xfrm>
          <a:prstGeom prst="rect">
            <a:avLst/>
          </a:prstGeom>
          <a:noFill/>
        </p:spPr>
        <p:txBody>
          <a:bodyPr wrap="square" lIns="0" tIns="0" rIns="0" bIns="0">
            <a:spAutoFit/>
          </a:bodyPr>
          <a:lstStyle/>
          <a:p>
            <a:pPr algn="l"/>
            <a:r>
              <a:rPr sz="1550" b="1" i="0">
                <a:solidFill>
                  <a:srgbClr val="6B7686"/>
                </a:solidFill>
                <a:latin typeface="Calibri"/>
              </a:rPr>
              <a:t>LIMITACIONES Y EXCLUSIONES</a:t>
            </a:r>
          </a:p>
        </p:txBody>
      </p:sp>
      <p:sp>
        <p:nvSpPr>
          <p:cNvPr id="150" name="Oval 149"/>
          <p:cNvSpPr/>
          <p:nvPr/>
        </p:nvSpPr>
        <p:spPr>
          <a:xfrm>
            <a:off x="6382512" y="2715768"/>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51" name="TextBox 150"/>
          <p:cNvSpPr txBox="1"/>
          <p:nvPr/>
        </p:nvSpPr>
        <p:spPr>
          <a:xfrm>
            <a:off x="6857999" y="2651760"/>
            <a:ext cx="4782312" cy="566928"/>
          </a:xfrm>
          <a:prstGeom prst="rect">
            <a:avLst/>
          </a:prstGeom>
          <a:noFill/>
        </p:spPr>
        <p:txBody>
          <a:bodyPr wrap="square" lIns="0" tIns="0" rIns="0" bIns="0">
            <a:spAutoFit/>
          </a:bodyPr>
          <a:lstStyle/>
          <a:p>
            <a:pPr algn="l">
              <a:lnSpc>
                <a:spcPct val="108000"/>
              </a:lnSpc>
            </a:pPr>
            <a:r>
              <a:rPr sz="1200" b="0" i="0">
                <a:solidFill>
                  <a:srgbClr val="1B2A41"/>
                </a:solidFill>
                <a:latin typeface="Calibri"/>
              </a:rPr>
              <a:t>No integra en tiempo real con las APIs de los transportistas: los datos se cargan por archivo.</a:t>
            </a:r>
          </a:p>
        </p:txBody>
      </p:sp>
      <p:sp>
        <p:nvSpPr>
          <p:cNvPr id="152" name="Oval 151"/>
          <p:cNvSpPr/>
          <p:nvPr/>
        </p:nvSpPr>
        <p:spPr>
          <a:xfrm>
            <a:off x="6382512" y="3282696"/>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53" name="TextBox 152"/>
          <p:cNvSpPr txBox="1"/>
          <p:nvPr/>
        </p:nvSpPr>
        <p:spPr>
          <a:xfrm>
            <a:off x="6857999" y="3218688"/>
            <a:ext cx="4782312" cy="566928"/>
          </a:xfrm>
          <a:prstGeom prst="rect">
            <a:avLst/>
          </a:prstGeom>
          <a:noFill/>
        </p:spPr>
        <p:txBody>
          <a:bodyPr wrap="square" lIns="0" tIns="0" rIns="0" bIns="0">
            <a:spAutoFit/>
          </a:bodyPr>
          <a:lstStyle/>
          <a:p>
            <a:pPr algn="l">
              <a:lnSpc>
                <a:spcPct val="108000"/>
              </a:lnSpc>
            </a:pPr>
            <a:r>
              <a:rPr sz="1200" b="0" i="0">
                <a:solidFill>
                  <a:srgbClr val="1B2A41"/>
                </a:solidFill>
                <a:latin typeface="Calibri"/>
              </a:rPr>
              <a:t>No gestiona el cobro ni el pago de las multas, solo genera el documento de reclamo.</a:t>
            </a:r>
          </a:p>
        </p:txBody>
      </p:sp>
      <p:sp>
        <p:nvSpPr>
          <p:cNvPr id="154" name="Oval 153"/>
          <p:cNvSpPr/>
          <p:nvPr/>
        </p:nvSpPr>
        <p:spPr>
          <a:xfrm>
            <a:off x="6382512" y="3849624"/>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55" name="TextBox 154"/>
          <p:cNvSpPr txBox="1"/>
          <p:nvPr/>
        </p:nvSpPr>
        <p:spPr>
          <a:xfrm>
            <a:off x="6857999" y="3785616"/>
            <a:ext cx="4782312" cy="566928"/>
          </a:xfrm>
          <a:prstGeom prst="rect">
            <a:avLst/>
          </a:prstGeom>
          <a:noFill/>
        </p:spPr>
        <p:txBody>
          <a:bodyPr wrap="square" lIns="0" tIns="0" rIns="0" bIns="0">
            <a:spAutoFit/>
          </a:bodyPr>
          <a:lstStyle/>
          <a:p>
            <a:pPr algn="l">
              <a:lnSpc>
                <a:spcPct val="108000"/>
              </a:lnSpc>
            </a:pPr>
            <a:r>
              <a:rPr sz="1200" b="0" i="0">
                <a:solidFill>
                  <a:srgbClr val="1B2A41"/>
                </a:solidFill>
                <a:latin typeface="Calibri"/>
              </a:rPr>
              <a:t>La estandarización de regiones/comunas vía API DPA es opcional y no bloquea el MVP.</a:t>
            </a:r>
          </a:p>
        </p:txBody>
      </p:sp>
      <p:sp>
        <p:nvSpPr>
          <p:cNvPr id="156" name="Oval 155"/>
          <p:cNvSpPr/>
          <p:nvPr/>
        </p:nvSpPr>
        <p:spPr>
          <a:xfrm>
            <a:off x="6382512" y="4416552"/>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57" name="TextBox 156"/>
          <p:cNvSpPr txBox="1"/>
          <p:nvPr/>
        </p:nvSpPr>
        <p:spPr>
          <a:xfrm>
            <a:off x="6857999" y="4352544"/>
            <a:ext cx="4782312" cy="566928"/>
          </a:xfrm>
          <a:prstGeom prst="rect">
            <a:avLst/>
          </a:prstGeom>
          <a:noFill/>
        </p:spPr>
        <p:txBody>
          <a:bodyPr wrap="square" lIns="0" tIns="0" rIns="0" bIns="0">
            <a:spAutoFit/>
          </a:bodyPr>
          <a:lstStyle/>
          <a:p>
            <a:pPr algn="l">
              <a:lnSpc>
                <a:spcPct val="108000"/>
              </a:lnSpc>
            </a:pPr>
            <a:r>
              <a:rPr sz="1200" b="0" i="0">
                <a:solidFill>
                  <a:srgbClr val="1B2A41"/>
                </a:solidFill>
                <a:latin typeface="Calibri"/>
              </a:rPr>
              <a:t>Alcance de 2 desarrolladores en 12 semanas: se prioriza el motor y la IA sobre el pulido visual.</a:t>
            </a:r>
          </a:p>
        </p:txBody>
      </p:sp>
      <p:sp>
        <p:nvSpPr>
          <p:cNvPr id="158" name="Oval 157"/>
          <p:cNvSpPr/>
          <p:nvPr/>
        </p:nvSpPr>
        <p:spPr>
          <a:xfrm>
            <a:off x="6382512" y="4983480"/>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100" b="1">
                <a:solidFill>
                  <a:srgbClr val="FFFFFF"/>
                </a:solidFill>
                <a:latin typeface="Calibri"/>
              </a:rPr>
              <a:t>–</a:t>
            </a:r>
          </a:p>
        </p:txBody>
      </p:sp>
      <p:sp>
        <p:nvSpPr>
          <p:cNvPr id="159" name="TextBox 158"/>
          <p:cNvSpPr txBox="1"/>
          <p:nvPr/>
        </p:nvSpPr>
        <p:spPr>
          <a:xfrm>
            <a:off x="6857999" y="4919472"/>
            <a:ext cx="4782312" cy="566928"/>
          </a:xfrm>
          <a:prstGeom prst="rect">
            <a:avLst/>
          </a:prstGeom>
          <a:noFill/>
        </p:spPr>
        <p:txBody>
          <a:bodyPr wrap="square" lIns="0" tIns="0" rIns="0" bIns="0">
            <a:spAutoFit/>
          </a:bodyPr>
          <a:lstStyle/>
          <a:p>
            <a:pPr algn="l">
              <a:lnSpc>
                <a:spcPct val="108000"/>
              </a:lnSpc>
            </a:pPr>
            <a:r>
              <a:rPr sz="1200" b="0" i="0">
                <a:solidFill>
                  <a:srgbClr val="1B2A41"/>
                </a:solidFill>
                <a:latin typeface="Calibri"/>
              </a:rPr>
              <a:t>MVP pensado para una empresa por instancia; el multi-tenant avanzado queda fuera de este alcance.</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pic>
        <p:nvPicPr>
          <p:cNvPr id="138" name="Google Shape;138;p6"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39" name="Google Shape;139;p6"/>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40" name="Google Shape;140;p6"/>
          <p:cNvSpPr txBox="1"/>
          <p:nvPr/>
        </p:nvSpPr>
        <p:spPr>
          <a:xfrm>
            <a:off x="0" y="1432655"/>
            <a:ext cx="12191999"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Metodología de trabajo para el desarrollo del proyecto</a:t>
            </a:r>
            <a:endParaRPr sz="1800">
              <a:solidFill>
                <a:schemeClr val="dk1"/>
              </a:solidFill>
              <a:latin typeface="Calibri"/>
              <a:ea typeface="Calibri"/>
              <a:cs typeface="Calibri"/>
              <a:sym typeface="Calibri"/>
            </a:endParaRPr>
          </a:p>
        </p:txBody>
      </p:sp>
      <p:cxnSp>
        <p:nvCxnSpPr>
          <p:cNvPr id="141" name="Google Shape;141;p6"/>
          <p:cNvCxnSpPr/>
          <p:nvPr/>
        </p:nvCxnSpPr>
        <p:spPr>
          <a:xfrm>
            <a:off x="0" y="758027"/>
            <a:ext cx="4085617" cy="0"/>
          </a:xfrm>
          <a:prstGeom prst="straightConnector1">
            <a:avLst/>
          </a:prstGeom>
          <a:noFill/>
          <a:ln w="15875" cap="flat" cmpd="sng">
            <a:solidFill>
              <a:srgbClr val="F5F7FC"/>
            </a:solidFill>
            <a:prstDash val="solid"/>
            <a:miter lim="8000"/>
            <a:headEnd type="none" w="sm" len="sm"/>
            <a:tailEnd type="none" w="sm" len="sm"/>
          </a:ln>
        </p:spPr>
      </p:cxnSp>
      <p:sp>
        <p:nvSpPr>
          <p:cNvPr id="142" name="Oval 141"/>
          <p:cNvSpPr/>
          <p:nvPr/>
        </p:nvSpPr>
        <p:spPr>
          <a:xfrm>
            <a:off x="676656" y="2185415"/>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1</a:t>
            </a:r>
          </a:p>
        </p:txBody>
      </p:sp>
      <p:sp>
        <p:nvSpPr>
          <p:cNvPr id="143" name="TextBox 142"/>
          <p:cNvSpPr txBox="1"/>
          <p:nvPr/>
        </p:nvSpPr>
        <p:spPr>
          <a:xfrm>
            <a:off x="1417320" y="2194560"/>
            <a:ext cx="9966960" cy="749808"/>
          </a:xfrm>
          <a:prstGeom prst="rect">
            <a:avLst/>
          </a:prstGeom>
          <a:noFill/>
        </p:spPr>
        <p:txBody>
          <a:bodyPr wrap="square" lIns="0" tIns="0" rIns="0" bIns="0">
            <a:spAutoFit/>
          </a:bodyPr>
          <a:lstStyle/>
          <a:p>
            <a:pPr algn="l">
              <a:spcAft>
                <a:spcPts val="200"/>
              </a:spcAft>
            </a:pPr>
            <a:r>
              <a:rPr sz="1500" b="1" i="0">
                <a:solidFill>
                  <a:srgbClr val="0B2545"/>
                </a:solidFill>
                <a:latin typeface="Calibri"/>
              </a:rPr>
              <a:t>Framework Scrum</a:t>
            </a:r>
          </a:p>
          <a:p>
            <a:pPr algn="l">
              <a:lnSpc>
                <a:spcPct val="105000"/>
              </a:lnSpc>
            </a:pPr>
            <a:r>
              <a:rPr sz="1200" b="0" i="0">
                <a:solidFill>
                  <a:srgbClr val="6B7686"/>
                </a:solidFill>
                <a:latin typeface="Calibri"/>
              </a:rPr>
              <a:t>6 sprints de 2 semanas (12 semanas totales), con entregas incrementales evaluables al cierre de cada sprint.</a:t>
            </a:r>
          </a:p>
        </p:txBody>
      </p:sp>
      <p:sp>
        <p:nvSpPr>
          <p:cNvPr id="144" name="Oval 143"/>
          <p:cNvSpPr/>
          <p:nvPr/>
        </p:nvSpPr>
        <p:spPr>
          <a:xfrm>
            <a:off x="676656" y="3008375"/>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2</a:t>
            </a:r>
          </a:p>
        </p:txBody>
      </p:sp>
      <p:sp>
        <p:nvSpPr>
          <p:cNvPr id="145" name="TextBox 144"/>
          <p:cNvSpPr txBox="1"/>
          <p:nvPr/>
        </p:nvSpPr>
        <p:spPr>
          <a:xfrm>
            <a:off x="1417320" y="3017520"/>
            <a:ext cx="9966960" cy="749808"/>
          </a:xfrm>
          <a:prstGeom prst="rect">
            <a:avLst/>
          </a:prstGeom>
          <a:noFill/>
        </p:spPr>
        <p:txBody>
          <a:bodyPr wrap="square" lIns="0" tIns="0" rIns="0" bIns="0">
            <a:spAutoFit/>
          </a:bodyPr>
          <a:lstStyle/>
          <a:p>
            <a:pPr algn="l">
              <a:spcAft>
                <a:spcPts val="200"/>
              </a:spcAft>
            </a:pPr>
            <a:r>
              <a:rPr sz="1500" b="1" i="0">
                <a:solidFill>
                  <a:srgbClr val="0B2545"/>
                </a:solidFill>
                <a:latin typeface="Calibri"/>
              </a:rPr>
              <a:t>Roles fijos por especialidad</a:t>
            </a:r>
          </a:p>
          <a:p>
            <a:pPr algn="l">
              <a:lnSpc>
                <a:spcPct val="105000"/>
              </a:lnSpc>
            </a:pPr>
            <a:r>
              <a:rPr sz="1200" b="0" i="0">
                <a:solidFill>
                  <a:srgbClr val="6B7686"/>
                </a:solidFill>
                <a:latin typeface="Calibri"/>
              </a:rPr>
              <a:t>Equipo de 2 personas: Dev 1 – Frontend &amp; UX, Dev 2 – Backend &amp; GCP, sin dependencias cruzadas dentro de un mismo sprint.</a:t>
            </a:r>
          </a:p>
        </p:txBody>
      </p:sp>
      <p:sp>
        <p:nvSpPr>
          <p:cNvPr id="146" name="Oval 145"/>
          <p:cNvSpPr/>
          <p:nvPr/>
        </p:nvSpPr>
        <p:spPr>
          <a:xfrm>
            <a:off x="676656" y="383133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3</a:t>
            </a:r>
          </a:p>
        </p:txBody>
      </p:sp>
      <p:sp>
        <p:nvSpPr>
          <p:cNvPr id="147" name="TextBox 146"/>
          <p:cNvSpPr txBox="1"/>
          <p:nvPr/>
        </p:nvSpPr>
        <p:spPr>
          <a:xfrm>
            <a:off x="1417320" y="3840480"/>
            <a:ext cx="9966960" cy="749808"/>
          </a:xfrm>
          <a:prstGeom prst="rect">
            <a:avLst/>
          </a:prstGeom>
          <a:noFill/>
        </p:spPr>
        <p:txBody>
          <a:bodyPr wrap="square" lIns="0" tIns="0" rIns="0" bIns="0">
            <a:spAutoFit/>
          </a:bodyPr>
          <a:lstStyle/>
          <a:p>
            <a:pPr algn="l">
              <a:spcAft>
                <a:spcPts val="200"/>
              </a:spcAft>
            </a:pPr>
            <a:r>
              <a:rPr sz="1500" b="1" i="0">
                <a:solidFill>
                  <a:srgbClr val="0B2545"/>
                </a:solidFill>
                <a:latin typeface="Calibri"/>
              </a:rPr>
              <a:t>Gestión en Jira</a:t>
            </a:r>
          </a:p>
          <a:p>
            <a:pPr algn="l">
              <a:lnSpc>
                <a:spcPct val="105000"/>
              </a:lnSpc>
            </a:pPr>
            <a:r>
              <a:rPr sz="1200" b="0" i="0">
                <a:solidFill>
                  <a:srgbClr val="6B7686"/>
                </a:solidFill>
                <a:latin typeface="Calibri"/>
              </a:rPr>
              <a:t>Tablero Kanban (prefijo KAN-), un Epic por sprint/módulo — Ingesta, Motor de Auditoría, Dashboard, IA, Calidad, Despliegue — con story points y responsable asignado.</a:t>
            </a:r>
          </a:p>
        </p:txBody>
      </p:sp>
      <p:sp>
        <p:nvSpPr>
          <p:cNvPr id="148" name="Oval 147"/>
          <p:cNvSpPr/>
          <p:nvPr/>
        </p:nvSpPr>
        <p:spPr>
          <a:xfrm>
            <a:off x="676656" y="465429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4</a:t>
            </a:r>
          </a:p>
        </p:txBody>
      </p:sp>
      <p:sp>
        <p:nvSpPr>
          <p:cNvPr id="149" name="TextBox 148"/>
          <p:cNvSpPr txBox="1"/>
          <p:nvPr/>
        </p:nvSpPr>
        <p:spPr>
          <a:xfrm>
            <a:off x="1417320" y="4663440"/>
            <a:ext cx="9966960" cy="749808"/>
          </a:xfrm>
          <a:prstGeom prst="rect">
            <a:avLst/>
          </a:prstGeom>
          <a:noFill/>
        </p:spPr>
        <p:txBody>
          <a:bodyPr wrap="square" lIns="0" tIns="0" rIns="0" bIns="0">
            <a:spAutoFit/>
          </a:bodyPr>
          <a:lstStyle/>
          <a:p>
            <a:pPr algn="l">
              <a:spcAft>
                <a:spcPts val="200"/>
              </a:spcAft>
            </a:pPr>
            <a:r>
              <a:rPr sz="1500" b="1" i="0">
                <a:solidFill>
                  <a:srgbClr val="0B2545"/>
                </a:solidFill>
                <a:latin typeface="Calibri"/>
              </a:rPr>
              <a:t>Calidad continua</a:t>
            </a:r>
          </a:p>
          <a:p>
            <a:pPr algn="l">
              <a:lnSpc>
                <a:spcPct val="105000"/>
              </a:lnSpc>
            </a:pPr>
            <a:r>
              <a:rPr sz="1200" b="0" i="0">
                <a:solidFill>
                  <a:srgbClr val="6B7686"/>
                </a:solidFill>
                <a:latin typeface="Calibri"/>
              </a:rPr>
              <a:t>Sprint 4 dedicado a testing (PyTest, Jest, Playwright) antes de desplegar, no como una etapa final aislada.</a:t>
            </a:r>
          </a:p>
        </p:txBody>
      </p:sp>
      <p:sp>
        <p:nvSpPr>
          <p:cNvPr id="150" name="Oval 149"/>
          <p:cNvSpPr/>
          <p:nvPr/>
        </p:nvSpPr>
        <p:spPr>
          <a:xfrm>
            <a:off x="676656" y="5477256"/>
            <a:ext cx="566928" cy="566928"/>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2000" b="1">
                <a:solidFill>
                  <a:srgbClr val="FFFFFF"/>
                </a:solidFill>
                <a:latin typeface="Calibri"/>
              </a:rPr>
              <a:t>5</a:t>
            </a:r>
          </a:p>
        </p:txBody>
      </p:sp>
      <p:sp>
        <p:nvSpPr>
          <p:cNvPr id="151" name="TextBox 150"/>
          <p:cNvSpPr txBox="1"/>
          <p:nvPr/>
        </p:nvSpPr>
        <p:spPr>
          <a:xfrm>
            <a:off x="1417320" y="5486400"/>
            <a:ext cx="9966960" cy="749808"/>
          </a:xfrm>
          <a:prstGeom prst="rect">
            <a:avLst/>
          </a:prstGeom>
          <a:noFill/>
        </p:spPr>
        <p:txBody>
          <a:bodyPr wrap="square" lIns="0" tIns="0" rIns="0" bIns="0">
            <a:spAutoFit/>
          </a:bodyPr>
          <a:lstStyle/>
          <a:p>
            <a:pPr algn="l">
              <a:spcAft>
                <a:spcPts val="200"/>
              </a:spcAft>
            </a:pPr>
            <a:r>
              <a:rPr sz="1500" b="1" i="0">
                <a:solidFill>
                  <a:srgbClr val="0B2545"/>
                </a:solidFill>
                <a:latin typeface="Calibri"/>
              </a:rPr>
              <a:t>Entrega continua (CI/CD)</a:t>
            </a:r>
          </a:p>
          <a:p>
            <a:pPr algn="l">
              <a:lnSpc>
                <a:spcPct val="105000"/>
              </a:lnSpc>
            </a:pPr>
            <a:r>
              <a:rPr sz="1200" b="0" i="0">
                <a:solidFill>
                  <a:srgbClr val="6B7686"/>
                </a:solidFill>
                <a:latin typeface="Calibri"/>
              </a:rPr>
              <a:t>Sprint 5 despliega en GCP Cloud Run con pipeline de GitHub Actions: build, tests y deploy automático en cada push a main.</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7"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47" name="Google Shape;147;p7"/>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48" name="Google Shape;148;p7"/>
          <p:cNvSpPr txBox="1"/>
          <p:nvPr/>
        </p:nvSpPr>
        <p:spPr>
          <a:xfrm>
            <a:off x="1" y="1155656"/>
            <a:ext cx="12191999" cy="89255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Cronograma para el desarrollo del proyecto</a:t>
            </a:r>
            <a:endParaRPr/>
          </a:p>
        </p:txBody>
      </p:sp>
      <p:cxnSp>
        <p:nvCxnSpPr>
          <p:cNvPr id="149" name="Google Shape;149;p7"/>
          <p:cNvCxnSpPr/>
          <p:nvPr/>
        </p:nvCxnSpPr>
        <p:spPr>
          <a:xfrm>
            <a:off x="0" y="758027"/>
            <a:ext cx="4085617" cy="0"/>
          </a:xfrm>
          <a:prstGeom prst="straightConnector1">
            <a:avLst/>
          </a:prstGeom>
          <a:noFill/>
          <a:ln w="15875" cap="flat" cmpd="sng">
            <a:solidFill>
              <a:srgbClr val="F5F7FC"/>
            </a:solidFill>
            <a:prstDash val="solid"/>
            <a:miter lim="8000"/>
            <a:headEnd type="none" w="sm" len="sm"/>
            <a:tailEnd type="none" w="sm" len="sm"/>
          </a:ln>
        </p:spPr>
      </p:cxnSp>
      <p:sp>
        <p:nvSpPr>
          <p:cNvPr id="150" name="TextBox 149"/>
          <p:cNvSpPr txBox="1"/>
          <p:nvPr/>
        </p:nvSpPr>
        <p:spPr>
          <a:xfrm>
            <a:off x="2788920" y="1856232"/>
            <a:ext cx="727710" cy="256032"/>
          </a:xfrm>
          <a:prstGeom prst="rect">
            <a:avLst/>
          </a:prstGeom>
          <a:noFill/>
        </p:spPr>
        <p:txBody>
          <a:bodyPr wrap="square" lIns="0" tIns="0" rIns="0" bIns="0">
            <a:spAutoFit/>
          </a:bodyPr>
          <a:lstStyle/>
          <a:p>
            <a:pPr algn="ctr"/>
            <a:r>
              <a:rPr sz="900" b="0" i="0">
                <a:solidFill>
                  <a:srgbClr val="6B7686"/>
                </a:solidFill>
                <a:latin typeface="Calibri"/>
              </a:rPr>
              <a:t>S1</a:t>
            </a:r>
          </a:p>
        </p:txBody>
      </p:sp>
      <p:sp>
        <p:nvSpPr>
          <p:cNvPr id="151" name="TextBox 150"/>
          <p:cNvSpPr txBox="1"/>
          <p:nvPr/>
        </p:nvSpPr>
        <p:spPr>
          <a:xfrm>
            <a:off x="3516630" y="1856232"/>
            <a:ext cx="727710" cy="256032"/>
          </a:xfrm>
          <a:prstGeom prst="rect">
            <a:avLst/>
          </a:prstGeom>
          <a:noFill/>
        </p:spPr>
        <p:txBody>
          <a:bodyPr wrap="square" lIns="0" tIns="0" rIns="0" bIns="0">
            <a:spAutoFit/>
          </a:bodyPr>
          <a:lstStyle/>
          <a:p>
            <a:pPr algn="ctr"/>
            <a:r>
              <a:rPr sz="900" b="0" i="0">
                <a:solidFill>
                  <a:srgbClr val="6B7686"/>
                </a:solidFill>
                <a:latin typeface="Calibri"/>
              </a:rPr>
              <a:t>S2</a:t>
            </a:r>
          </a:p>
        </p:txBody>
      </p:sp>
      <p:sp>
        <p:nvSpPr>
          <p:cNvPr id="152" name="TextBox 151"/>
          <p:cNvSpPr txBox="1"/>
          <p:nvPr/>
        </p:nvSpPr>
        <p:spPr>
          <a:xfrm>
            <a:off x="4244340" y="1856232"/>
            <a:ext cx="727710" cy="256032"/>
          </a:xfrm>
          <a:prstGeom prst="rect">
            <a:avLst/>
          </a:prstGeom>
          <a:noFill/>
        </p:spPr>
        <p:txBody>
          <a:bodyPr wrap="square" lIns="0" tIns="0" rIns="0" bIns="0">
            <a:spAutoFit/>
          </a:bodyPr>
          <a:lstStyle/>
          <a:p>
            <a:pPr algn="ctr"/>
            <a:r>
              <a:rPr sz="900" b="0" i="0">
                <a:solidFill>
                  <a:srgbClr val="6B7686"/>
                </a:solidFill>
                <a:latin typeface="Calibri"/>
              </a:rPr>
              <a:t>S3</a:t>
            </a:r>
          </a:p>
        </p:txBody>
      </p:sp>
      <p:sp>
        <p:nvSpPr>
          <p:cNvPr id="153" name="TextBox 152"/>
          <p:cNvSpPr txBox="1"/>
          <p:nvPr/>
        </p:nvSpPr>
        <p:spPr>
          <a:xfrm>
            <a:off x="4972050" y="1856232"/>
            <a:ext cx="727710" cy="256032"/>
          </a:xfrm>
          <a:prstGeom prst="rect">
            <a:avLst/>
          </a:prstGeom>
          <a:noFill/>
        </p:spPr>
        <p:txBody>
          <a:bodyPr wrap="square" lIns="0" tIns="0" rIns="0" bIns="0">
            <a:spAutoFit/>
          </a:bodyPr>
          <a:lstStyle/>
          <a:p>
            <a:pPr algn="ctr"/>
            <a:r>
              <a:rPr sz="900" b="0" i="0">
                <a:solidFill>
                  <a:srgbClr val="6B7686"/>
                </a:solidFill>
                <a:latin typeface="Calibri"/>
              </a:rPr>
              <a:t>S4</a:t>
            </a:r>
          </a:p>
        </p:txBody>
      </p:sp>
      <p:sp>
        <p:nvSpPr>
          <p:cNvPr id="154" name="TextBox 153"/>
          <p:cNvSpPr txBox="1"/>
          <p:nvPr/>
        </p:nvSpPr>
        <p:spPr>
          <a:xfrm>
            <a:off x="5699760" y="1856232"/>
            <a:ext cx="727710" cy="256032"/>
          </a:xfrm>
          <a:prstGeom prst="rect">
            <a:avLst/>
          </a:prstGeom>
          <a:noFill/>
        </p:spPr>
        <p:txBody>
          <a:bodyPr wrap="square" lIns="0" tIns="0" rIns="0" bIns="0">
            <a:spAutoFit/>
          </a:bodyPr>
          <a:lstStyle/>
          <a:p>
            <a:pPr algn="ctr"/>
            <a:r>
              <a:rPr sz="900" b="0" i="0">
                <a:solidFill>
                  <a:srgbClr val="6B7686"/>
                </a:solidFill>
                <a:latin typeface="Calibri"/>
              </a:rPr>
              <a:t>S5</a:t>
            </a:r>
          </a:p>
        </p:txBody>
      </p:sp>
      <p:sp>
        <p:nvSpPr>
          <p:cNvPr id="155" name="TextBox 154"/>
          <p:cNvSpPr txBox="1"/>
          <p:nvPr/>
        </p:nvSpPr>
        <p:spPr>
          <a:xfrm>
            <a:off x="6427470" y="1856232"/>
            <a:ext cx="727710" cy="256032"/>
          </a:xfrm>
          <a:prstGeom prst="rect">
            <a:avLst/>
          </a:prstGeom>
          <a:noFill/>
        </p:spPr>
        <p:txBody>
          <a:bodyPr wrap="square" lIns="0" tIns="0" rIns="0" bIns="0">
            <a:spAutoFit/>
          </a:bodyPr>
          <a:lstStyle/>
          <a:p>
            <a:pPr algn="ctr"/>
            <a:r>
              <a:rPr sz="900" b="0" i="0">
                <a:solidFill>
                  <a:srgbClr val="6B7686"/>
                </a:solidFill>
                <a:latin typeface="Calibri"/>
              </a:rPr>
              <a:t>S6</a:t>
            </a:r>
          </a:p>
        </p:txBody>
      </p:sp>
      <p:sp>
        <p:nvSpPr>
          <p:cNvPr id="156" name="TextBox 155"/>
          <p:cNvSpPr txBox="1"/>
          <p:nvPr/>
        </p:nvSpPr>
        <p:spPr>
          <a:xfrm>
            <a:off x="7155180" y="1856232"/>
            <a:ext cx="727710" cy="256032"/>
          </a:xfrm>
          <a:prstGeom prst="rect">
            <a:avLst/>
          </a:prstGeom>
          <a:noFill/>
        </p:spPr>
        <p:txBody>
          <a:bodyPr wrap="square" lIns="0" tIns="0" rIns="0" bIns="0">
            <a:spAutoFit/>
          </a:bodyPr>
          <a:lstStyle/>
          <a:p>
            <a:pPr algn="ctr"/>
            <a:r>
              <a:rPr sz="900" b="0" i="0">
                <a:solidFill>
                  <a:srgbClr val="6B7686"/>
                </a:solidFill>
                <a:latin typeface="Calibri"/>
              </a:rPr>
              <a:t>S7</a:t>
            </a:r>
          </a:p>
        </p:txBody>
      </p:sp>
      <p:sp>
        <p:nvSpPr>
          <p:cNvPr id="157" name="TextBox 156"/>
          <p:cNvSpPr txBox="1"/>
          <p:nvPr/>
        </p:nvSpPr>
        <p:spPr>
          <a:xfrm>
            <a:off x="7882890" y="1856232"/>
            <a:ext cx="727710" cy="256032"/>
          </a:xfrm>
          <a:prstGeom prst="rect">
            <a:avLst/>
          </a:prstGeom>
          <a:noFill/>
        </p:spPr>
        <p:txBody>
          <a:bodyPr wrap="square" lIns="0" tIns="0" rIns="0" bIns="0">
            <a:spAutoFit/>
          </a:bodyPr>
          <a:lstStyle/>
          <a:p>
            <a:pPr algn="ctr"/>
            <a:r>
              <a:rPr sz="900" b="0" i="0">
                <a:solidFill>
                  <a:srgbClr val="6B7686"/>
                </a:solidFill>
                <a:latin typeface="Calibri"/>
              </a:rPr>
              <a:t>S8</a:t>
            </a:r>
          </a:p>
        </p:txBody>
      </p:sp>
      <p:sp>
        <p:nvSpPr>
          <p:cNvPr id="158" name="TextBox 157"/>
          <p:cNvSpPr txBox="1"/>
          <p:nvPr/>
        </p:nvSpPr>
        <p:spPr>
          <a:xfrm>
            <a:off x="8610600" y="1856232"/>
            <a:ext cx="727710" cy="256032"/>
          </a:xfrm>
          <a:prstGeom prst="rect">
            <a:avLst/>
          </a:prstGeom>
          <a:noFill/>
        </p:spPr>
        <p:txBody>
          <a:bodyPr wrap="square" lIns="0" tIns="0" rIns="0" bIns="0">
            <a:spAutoFit/>
          </a:bodyPr>
          <a:lstStyle/>
          <a:p>
            <a:pPr algn="ctr"/>
            <a:r>
              <a:rPr sz="900" b="0" i="0">
                <a:solidFill>
                  <a:srgbClr val="6B7686"/>
                </a:solidFill>
                <a:latin typeface="Calibri"/>
              </a:rPr>
              <a:t>S9</a:t>
            </a:r>
          </a:p>
        </p:txBody>
      </p:sp>
      <p:sp>
        <p:nvSpPr>
          <p:cNvPr id="159" name="TextBox 158"/>
          <p:cNvSpPr txBox="1"/>
          <p:nvPr/>
        </p:nvSpPr>
        <p:spPr>
          <a:xfrm>
            <a:off x="9338310" y="1856232"/>
            <a:ext cx="727710" cy="256032"/>
          </a:xfrm>
          <a:prstGeom prst="rect">
            <a:avLst/>
          </a:prstGeom>
          <a:noFill/>
        </p:spPr>
        <p:txBody>
          <a:bodyPr wrap="square" lIns="0" tIns="0" rIns="0" bIns="0">
            <a:spAutoFit/>
          </a:bodyPr>
          <a:lstStyle/>
          <a:p>
            <a:pPr algn="ctr"/>
            <a:r>
              <a:rPr sz="900" b="0" i="0">
                <a:solidFill>
                  <a:srgbClr val="6B7686"/>
                </a:solidFill>
                <a:latin typeface="Calibri"/>
              </a:rPr>
              <a:t>S10</a:t>
            </a:r>
          </a:p>
        </p:txBody>
      </p:sp>
      <p:sp>
        <p:nvSpPr>
          <p:cNvPr id="160" name="TextBox 159"/>
          <p:cNvSpPr txBox="1"/>
          <p:nvPr/>
        </p:nvSpPr>
        <p:spPr>
          <a:xfrm>
            <a:off x="10066020" y="1856232"/>
            <a:ext cx="727710" cy="256032"/>
          </a:xfrm>
          <a:prstGeom prst="rect">
            <a:avLst/>
          </a:prstGeom>
          <a:noFill/>
        </p:spPr>
        <p:txBody>
          <a:bodyPr wrap="square" lIns="0" tIns="0" rIns="0" bIns="0">
            <a:spAutoFit/>
          </a:bodyPr>
          <a:lstStyle/>
          <a:p>
            <a:pPr algn="ctr"/>
            <a:r>
              <a:rPr sz="900" b="0" i="0">
                <a:solidFill>
                  <a:srgbClr val="6B7686"/>
                </a:solidFill>
                <a:latin typeface="Calibri"/>
              </a:rPr>
              <a:t>S11</a:t>
            </a:r>
          </a:p>
        </p:txBody>
      </p:sp>
      <p:sp>
        <p:nvSpPr>
          <p:cNvPr id="161" name="TextBox 160"/>
          <p:cNvSpPr txBox="1"/>
          <p:nvPr/>
        </p:nvSpPr>
        <p:spPr>
          <a:xfrm>
            <a:off x="10793730" y="1856232"/>
            <a:ext cx="727710" cy="256032"/>
          </a:xfrm>
          <a:prstGeom prst="rect">
            <a:avLst/>
          </a:prstGeom>
          <a:noFill/>
        </p:spPr>
        <p:txBody>
          <a:bodyPr wrap="square" lIns="0" tIns="0" rIns="0" bIns="0">
            <a:spAutoFit/>
          </a:bodyPr>
          <a:lstStyle/>
          <a:p>
            <a:pPr algn="ctr"/>
            <a:r>
              <a:rPr sz="900" b="0" i="0">
                <a:solidFill>
                  <a:srgbClr val="6B7686"/>
                </a:solidFill>
                <a:latin typeface="Calibri"/>
              </a:rPr>
              <a:t>S12</a:t>
            </a:r>
          </a:p>
        </p:txBody>
      </p:sp>
      <p:cxnSp>
        <p:nvCxnSpPr>
          <p:cNvPr id="162" name="Connector 161"/>
          <p:cNvCxnSpPr/>
          <p:nvPr/>
        </p:nvCxnSpPr>
        <p:spPr>
          <a:xfrm>
            <a:off x="278892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424434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569976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715518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861060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1006602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1521440" y="2103120"/>
            <a:ext cx="0" cy="2834639"/>
          </a:xfrm>
          <a:prstGeom prst="line">
            <a:avLst/>
          </a:prstGeom>
          <a:ln w="9525">
            <a:solidFill>
              <a:srgbClr val="E3E7EC"/>
            </a:solidFill>
          </a:ln>
          <a:effectLst/>
        </p:spPr>
        <p:style>
          <a:lnRef idx="2">
            <a:schemeClr val="accent1"/>
          </a:lnRef>
          <a:fillRef idx="0">
            <a:schemeClr val="accent1"/>
          </a:fillRef>
          <a:effectRef idx="1">
            <a:schemeClr val="accent1"/>
          </a:effectRef>
          <a:fontRef idx="minor">
            <a:schemeClr val="tx1"/>
          </a:fontRef>
        </p:style>
      </p:cxnSp>
      <p:sp>
        <p:nvSpPr>
          <p:cNvPr id="169" name="TextBox 168"/>
          <p:cNvSpPr txBox="1"/>
          <p:nvPr/>
        </p:nvSpPr>
        <p:spPr>
          <a:xfrm>
            <a:off x="548640" y="2148840"/>
            <a:ext cx="2103120" cy="457200"/>
          </a:xfrm>
          <a:prstGeom prst="rect">
            <a:avLst/>
          </a:prstGeom>
          <a:noFill/>
        </p:spPr>
        <p:txBody>
          <a:bodyPr wrap="square" lIns="0" tIns="0" rIns="0" bIns="0">
            <a:spAutoFit/>
          </a:bodyPr>
          <a:lstStyle/>
          <a:p>
            <a:pPr algn="l"/>
            <a:r>
              <a:rPr sz="1200" b="1" i="0">
                <a:solidFill>
                  <a:srgbClr val="0B2545"/>
                </a:solidFill>
                <a:latin typeface="Calibri"/>
              </a:rPr>
              <a:t>Sprint 1</a:t>
            </a:r>
          </a:p>
          <a:p>
            <a:pPr algn="l"/>
            <a:r>
              <a:rPr sz="950" b="0" i="0">
                <a:solidFill>
                  <a:srgbClr val="6B7686"/>
                </a:solidFill>
                <a:latin typeface="Calibri"/>
              </a:rPr>
              <a:t>Ingesta de datos y base del backend</a:t>
            </a:r>
          </a:p>
        </p:txBody>
      </p:sp>
      <p:sp>
        <p:nvSpPr>
          <p:cNvPr id="170" name="Rounded Rectangle 169"/>
          <p:cNvSpPr/>
          <p:nvPr/>
        </p:nvSpPr>
        <p:spPr>
          <a:xfrm>
            <a:off x="2788920" y="2194560"/>
            <a:ext cx="1400556" cy="310896"/>
          </a:xfrm>
          <a:prstGeom prst="roundRect">
            <a:avLst>
              <a:gd name="adj" fmla="val 40000"/>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FFFFFF"/>
                </a:solidFill>
                <a:latin typeface="Calibri"/>
              </a:rPr>
              <a:t>EN CURSO</a:t>
            </a:r>
          </a:p>
        </p:txBody>
      </p:sp>
      <p:sp>
        <p:nvSpPr>
          <p:cNvPr id="171" name="TextBox 170"/>
          <p:cNvSpPr txBox="1"/>
          <p:nvPr/>
        </p:nvSpPr>
        <p:spPr>
          <a:xfrm>
            <a:off x="548640" y="2606040"/>
            <a:ext cx="2103120" cy="457200"/>
          </a:xfrm>
          <a:prstGeom prst="rect">
            <a:avLst/>
          </a:prstGeom>
          <a:noFill/>
        </p:spPr>
        <p:txBody>
          <a:bodyPr wrap="square" lIns="0" tIns="0" rIns="0" bIns="0">
            <a:spAutoFit/>
          </a:bodyPr>
          <a:lstStyle/>
          <a:p>
            <a:pPr algn="l"/>
            <a:r>
              <a:rPr sz="1200" b="1" i="0">
                <a:solidFill>
                  <a:srgbClr val="0B2545"/>
                </a:solidFill>
                <a:latin typeface="Calibri"/>
              </a:rPr>
              <a:t>Sprint 2</a:t>
            </a:r>
          </a:p>
          <a:p>
            <a:pPr algn="l"/>
            <a:r>
              <a:rPr sz="950" b="0" i="0">
                <a:solidFill>
                  <a:srgbClr val="6B7686"/>
                </a:solidFill>
                <a:latin typeface="Calibri"/>
              </a:rPr>
              <a:t>Motor de auditoría / core</a:t>
            </a:r>
          </a:p>
        </p:txBody>
      </p:sp>
      <p:sp>
        <p:nvSpPr>
          <p:cNvPr id="172" name="Rounded Rectangle 171"/>
          <p:cNvSpPr/>
          <p:nvPr/>
        </p:nvSpPr>
        <p:spPr>
          <a:xfrm>
            <a:off x="4244340" y="2651760"/>
            <a:ext cx="1400556" cy="310896"/>
          </a:xfrm>
          <a:prstGeom prst="roundRect">
            <a:avLst>
              <a:gd name="adj" fmla="val 40000"/>
            </a:avLst>
          </a:prstGeom>
          <a:solidFill>
            <a:srgbClr val="E4ECF7"/>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0E7C86"/>
                </a:solidFill>
                <a:latin typeface="Calibri"/>
              </a:rPr>
              <a:t>PLANIFICADO</a:t>
            </a:r>
          </a:p>
        </p:txBody>
      </p:sp>
      <p:sp>
        <p:nvSpPr>
          <p:cNvPr id="173" name="TextBox 172"/>
          <p:cNvSpPr txBox="1"/>
          <p:nvPr/>
        </p:nvSpPr>
        <p:spPr>
          <a:xfrm>
            <a:off x="548640" y="3063240"/>
            <a:ext cx="2103120" cy="457200"/>
          </a:xfrm>
          <a:prstGeom prst="rect">
            <a:avLst/>
          </a:prstGeom>
          <a:noFill/>
        </p:spPr>
        <p:txBody>
          <a:bodyPr wrap="square" lIns="0" tIns="0" rIns="0" bIns="0">
            <a:spAutoFit/>
          </a:bodyPr>
          <a:lstStyle/>
          <a:p>
            <a:pPr algn="l"/>
            <a:r>
              <a:rPr sz="1200" b="1" i="0">
                <a:solidFill>
                  <a:srgbClr val="0B2545"/>
                </a:solidFill>
                <a:latin typeface="Calibri"/>
              </a:rPr>
              <a:t>Sprint 3</a:t>
            </a:r>
          </a:p>
          <a:p>
            <a:pPr algn="l"/>
            <a:r>
              <a:rPr sz="950" b="0" i="0">
                <a:solidFill>
                  <a:srgbClr val="6B7686"/>
                </a:solidFill>
                <a:latin typeface="Calibri"/>
              </a:rPr>
              <a:t>Dashboard, reporting e IA generativa</a:t>
            </a:r>
          </a:p>
        </p:txBody>
      </p:sp>
      <p:sp>
        <p:nvSpPr>
          <p:cNvPr id="174" name="Rounded Rectangle 173"/>
          <p:cNvSpPr/>
          <p:nvPr/>
        </p:nvSpPr>
        <p:spPr>
          <a:xfrm>
            <a:off x="5699760" y="3108960"/>
            <a:ext cx="1400556" cy="310896"/>
          </a:xfrm>
          <a:prstGeom prst="roundRect">
            <a:avLst>
              <a:gd name="adj" fmla="val 40000"/>
            </a:avLst>
          </a:prstGeom>
          <a:solidFill>
            <a:srgbClr val="E4ECF7"/>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0E7C86"/>
                </a:solidFill>
                <a:latin typeface="Calibri"/>
              </a:rPr>
              <a:t>PLANIFICADO</a:t>
            </a:r>
          </a:p>
        </p:txBody>
      </p:sp>
      <p:sp>
        <p:nvSpPr>
          <p:cNvPr id="175" name="TextBox 174"/>
          <p:cNvSpPr txBox="1"/>
          <p:nvPr/>
        </p:nvSpPr>
        <p:spPr>
          <a:xfrm>
            <a:off x="548640" y="3520440"/>
            <a:ext cx="2103120" cy="457200"/>
          </a:xfrm>
          <a:prstGeom prst="rect">
            <a:avLst/>
          </a:prstGeom>
          <a:noFill/>
        </p:spPr>
        <p:txBody>
          <a:bodyPr wrap="square" lIns="0" tIns="0" rIns="0" bIns="0">
            <a:spAutoFit/>
          </a:bodyPr>
          <a:lstStyle/>
          <a:p>
            <a:pPr algn="l"/>
            <a:r>
              <a:rPr sz="1200" b="1" i="0">
                <a:solidFill>
                  <a:srgbClr val="0B2545"/>
                </a:solidFill>
                <a:latin typeface="Calibri"/>
              </a:rPr>
              <a:t>Sprint 4</a:t>
            </a:r>
          </a:p>
          <a:p>
            <a:pPr algn="l"/>
            <a:r>
              <a:rPr sz="950" b="0" i="0">
                <a:solidFill>
                  <a:srgbClr val="6B7686"/>
                </a:solidFill>
                <a:latin typeface="Calibri"/>
              </a:rPr>
              <a:t>Testing y calidad</a:t>
            </a:r>
          </a:p>
        </p:txBody>
      </p:sp>
      <p:sp>
        <p:nvSpPr>
          <p:cNvPr id="176" name="Rounded Rectangle 175"/>
          <p:cNvSpPr/>
          <p:nvPr/>
        </p:nvSpPr>
        <p:spPr>
          <a:xfrm>
            <a:off x="7155180" y="3566160"/>
            <a:ext cx="1400556" cy="310896"/>
          </a:xfrm>
          <a:prstGeom prst="roundRect">
            <a:avLst>
              <a:gd name="adj" fmla="val 40000"/>
            </a:avLst>
          </a:prstGeom>
          <a:solidFill>
            <a:srgbClr val="E4ECF7"/>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0E7C86"/>
                </a:solidFill>
                <a:latin typeface="Calibri"/>
              </a:rPr>
              <a:t>PLANIFICADO</a:t>
            </a:r>
          </a:p>
        </p:txBody>
      </p:sp>
      <p:sp>
        <p:nvSpPr>
          <p:cNvPr id="177" name="TextBox 176"/>
          <p:cNvSpPr txBox="1"/>
          <p:nvPr/>
        </p:nvSpPr>
        <p:spPr>
          <a:xfrm>
            <a:off x="548640" y="3977639"/>
            <a:ext cx="2103120" cy="457200"/>
          </a:xfrm>
          <a:prstGeom prst="rect">
            <a:avLst/>
          </a:prstGeom>
          <a:noFill/>
        </p:spPr>
        <p:txBody>
          <a:bodyPr wrap="square" lIns="0" tIns="0" rIns="0" bIns="0">
            <a:spAutoFit/>
          </a:bodyPr>
          <a:lstStyle/>
          <a:p>
            <a:pPr algn="l"/>
            <a:r>
              <a:rPr sz="1200" b="1" i="0">
                <a:solidFill>
                  <a:srgbClr val="0B2545"/>
                </a:solidFill>
                <a:latin typeface="Calibri"/>
              </a:rPr>
              <a:t>Sprint 5</a:t>
            </a:r>
          </a:p>
          <a:p>
            <a:pPr algn="l"/>
            <a:r>
              <a:rPr sz="950" b="0" i="0">
                <a:solidFill>
                  <a:srgbClr val="6B7686"/>
                </a:solidFill>
                <a:latin typeface="Calibri"/>
              </a:rPr>
              <a:t>Despliegue GCP y CI/CD</a:t>
            </a:r>
          </a:p>
        </p:txBody>
      </p:sp>
      <p:sp>
        <p:nvSpPr>
          <p:cNvPr id="178" name="Rounded Rectangle 177"/>
          <p:cNvSpPr/>
          <p:nvPr/>
        </p:nvSpPr>
        <p:spPr>
          <a:xfrm>
            <a:off x="8610600" y="4023359"/>
            <a:ext cx="1400556" cy="310896"/>
          </a:xfrm>
          <a:prstGeom prst="roundRect">
            <a:avLst>
              <a:gd name="adj" fmla="val 40000"/>
            </a:avLst>
          </a:prstGeom>
          <a:solidFill>
            <a:srgbClr val="E4ECF7"/>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0E7C86"/>
                </a:solidFill>
                <a:latin typeface="Calibri"/>
              </a:rPr>
              <a:t>PLANIFICADO</a:t>
            </a:r>
          </a:p>
        </p:txBody>
      </p:sp>
      <p:sp>
        <p:nvSpPr>
          <p:cNvPr id="179" name="TextBox 178"/>
          <p:cNvSpPr txBox="1"/>
          <p:nvPr/>
        </p:nvSpPr>
        <p:spPr>
          <a:xfrm>
            <a:off x="548640" y="4434840"/>
            <a:ext cx="2103120" cy="457200"/>
          </a:xfrm>
          <a:prstGeom prst="rect">
            <a:avLst/>
          </a:prstGeom>
          <a:noFill/>
        </p:spPr>
        <p:txBody>
          <a:bodyPr wrap="square" lIns="0" tIns="0" rIns="0" bIns="0">
            <a:spAutoFit/>
          </a:bodyPr>
          <a:lstStyle/>
          <a:p>
            <a:pPr algn="l"/>
            <a:r>
              <a:rPr sz="1200" b="1" i="0">
                <a:solidFill>
                  <a:srgbClr val="0B2545"/>
                </a:solidFill>
                <a:latin typeface="Calibri"/>
              </a:rPr>
              <a:t>Sprint 6</a:t>
            </a:r>
          </a:p>
          <a:p>
            <a:pPr algn="l"/>
            <a:r>
              <a:rPr sz="950" b="0" i="0">
                <a:solidFill>
                  <a:srgbClr val="6B7686"/>
                </a:solidFill>
                <a:latin typeface="Calibri"/>
              </a:rPr>
              <a:t>Cierre, documentación y defensa</a:t>
            </a:r>
          </a:p>
        </p:txBody>
      </p:sp>
      <p:sp>
        <p:nvSpPr>
          <p:cNvPr id="180" name="Rounded Rectangle 179"/>
          <p:cNvSpPr/>
          <p:nvPr/>
        </p:nvSpPr>
        <p:spPr>
          <a:xfrm>
            <a:off x="10066020" y="4480559"/>
            <a:ext cx="1400556" cy="310896"/>
          </a:xfrm>
          <a:prstGeom prst="roundRect">
            <a:avLst>
              <a:gd name="adj" fmla="val 40000"/>
            </a:avLst>
          </a:prstGeom>
          <a:solidFill>
            <a:srgbClr val="E4ECF7"/>
          </a:solidFill>
          <a:ln w="12700">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950" b="1">
                <a:solidFill>
                  <a:srgbClr val="0E7C86"/>
                </a:solidFill>
                <a:latin typeface="Calibri"/>
              </a:rPr>
              <a:t>PLANIFICADO</a:t>
            </a:r>
          </a:p>
        </p:txBody>
      </p:sp>
      <p:sp>
        <p:nvSpPr>
          <p:cNvPr id="181" name="Oval 180"/>
          <p:cNvSpPr/>
          <p:nvPr/>
        </p:nvSpPr>
        <p:spPr>
          <a:xfrm>
            <a:off x="667512" y="5221223"/>
            <a:ext cx="219456" cy="219456"/>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2" name="TextBox 181"/>
          <p:cNvSpPr txBox="1"/>
          <p:nvPr/>
        </p:nvSpPr>
        <p:spPr>
          <a:xfrm>
            <a:off x="960120" y="5212079"/>
            <a:ext cx="3291840" cy="320040"/>
          </a:xfrm>
          <a:prstGeom prst="rect">
            <a:avLst/>
          </a:prstGeom>
          <a:noFill/>
        </p:spPr>
        <p:txBody>
          <a:bodyPr wrap="square" lIns="0" tIns="0" rIns="0" bIns="0" anchor="ctr">
            <a:spAutoFit/>
          </a:bodyPr>
          <a:lstStyle/>
          <a:p>
            <a:pPr algn="l"/>
            <a:r>
              <a:rPr sz="1100" b="0" i="0">
                <a:solidFill>
                  <a:srgbClr val="1B2A41"/>
                </a:solidFill>
                <a:latin typeface="Calibri"/>
              </a:rPr>
              <a:t>En curso (algunas tareas completadas)</a:t>
            </a:r>
          </a:p>
        </p:txBody>
      </p:sp>
      <p:sp>
        <p:nvSpPr>
          <p:cNvPr id="183" name="Oval 182"/>
          <p:cNvSpPr/>
          <p:nvPr/>
        </p:nvSpPr>
        <p:spPr>
          <a:xfrm>
            <a:off x="4370832" y="5221223"/>
            <a:ext cx="219456" cy="219456"/>
          </a:xfrm>
          <a:prstGeom prst="ellipse">
            <a:avLst/>
          </a:prstGeom>
          <a:solidFill>
            <a:srgbClr val="E4ECF7"/>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endParaRPr/>
          </a:p>
        </p:txBody>
      </p:sp>
      <p:sp>
        <p:nvSpPr>
          <p:cNvPr id="184" name="TextBox 183"/>
          <p:cNvSpPr txBox="1"/>
          <p:nvPr/>
        </p:nvSpPr>
        <p:spPr>
          <a:xfrm>
            <a:off x="4663440" y="5212079"/>
            <a:ext cx="3291840" cy="320040"/>
          </a:xfrm>
          <a:prstGeom prst="rect">
            <a:avLst/>
          </a:prstGeom>
          <a:noFill/>
        </p:spPr>
        <p:txBody>
          <a:bodyPr wrap="square" lIns="0" tIns="0" rIns="0" bIns="0" anchor="ctr">
            <a:spAutoFit/>
          </a:bodyPr>
          <a:lstStyle/>
          <a:p>
            <a:pPr algn="l"/>
            <a:r>
              <a:rPr sz="1100" b="0" i="0">
                <a:solidFill>
                  <a:srgbClr val="1B2A41"/>
                </a:solidFill>
                <a:latin typeface="Calibri"/>
              </a:rPr>
              <a:t>Planificado</a:t>
            </a:r>
          </a:p>
        </p:txBody>
      </p:sp>
      <p:sp>
        <p:nvSpPr>
          <p:cNvPr id="185" name="TextBox 184"/>
          <p:cNvSpPr txBox="1"/>
          <p:nvPr/>
        </p:nvSpPr>
        <p:spPr>
          <a:xfrm>
            <a:off x="548640" y="5714999"/>
            <a:ext cx="11064240" cy="502920"/>
          </a:xfrm>
          <a:prstGeom prst="rect">
            <a:avLst/>
          </a:prstGeom>
          <a:noFill/>
        </p:spPr>
        <p:txBody>
          <a:bodyPr wrap="square" lIns="0" tIns="0" rIns="0" bIns="0">
            <a:spAutoFit/>
          </a:bodyPr>
          <a:lstStyle/>
          <a:p>
            <a:pPr algn="l"/>
            <a:r>
              <a:rPr sz="1050" b="0" i="1">
                <a:solidFill>
                  <a:srgbClr val="6B7686"/>
                </a:solidFill>
                <a:latin typeface="Calibri"/>
              </a:rPr>
              <a:t>* Cronograma de inicio del proyecto (semana 1 de 12). El nivel de cumplimiento de cada sprint se actualizará en esta misma vista al término del proyecto, conforme al avance real.</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8001000" y="1965960"/>
            <a:ext cx="3794760" cy="4343400"/>
          </a:xfrm>
          <a:prstGeom prst="roundRect">
            <a:avLst>
              <a:gd name="adj" fmla="val 6000"/>
            </a:avLst>
          </a:prstGeom>
          <a:solidFill>
            <a:srgbClr val="FBEC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206240" y="1965960"/>
            <a:ext cx="3794760" cy="4343400"/>
          </a:xfrm>
          <a:prstGeom prst="roundRect">
            <a:avLst>
              <a:gd name="adj" fmla="val 6000"/>
            </a:avLst>
          </a:prstGeom>
          <a:solidFill>
            <a:srgbClr val="EC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11479" y="1965960"/>
            <a:ext cx="3794760" cy="4343400"/>
          </a:xfrm>
          <a:prstGeom prst="roundRect">
            <a:avLst>
              <a:gd name="adj" fmla="val 6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136245" y="368503"/>
            <a:ext cx="11887200" cy="369417"/>
          </a:xfrm>
          <a:prstGeom prst="rect">
            <a:avLst/>
          </a:prstGeom>
          <a:noFill/>
        </p:spPr>
        <p:txBody>
          <a:bodyPr wrap="square" lIns="0" tIns="0" rIns="0" bIns="0">
            <a:spAutoFit/>
          </a:bodyPr>
          <a:lstStyle/>
          <a:p>
            <a:pPr algn="l"/>
            <a:r>
              <a:rPr sz="1800" b="0" i="0">
                <a:solidFill>
                  <a:srgbClr val="757070"/>
                </a:solidFill>
                <a:latin typeface="Calibri"/>
              </a:rPr>
              <a:t>PROYECTO “LOGISLA”</a:t>
            </a:r>
          </a:p>
        </p:txBody>
      </p:sp>
      <p:pic>
        <p:nvPicPr>
          <p:cNvPr id="3" name="Picture 2" descr="image.jpg"/>
          <p:cNvPicPr>
            <a:picLocks noChangeAspect="1"/>
          </p:cNvPicPr>
          <p:nvPr/>
        </p:nvPicPr>
        <p:blipFill>
          <a:blip r:embed="rId2"/>
          <a:stretch>
            <a:fillRect/>
          </a:stretch>
        </p:blipFill>
        <p:spPr>
          <a:xfrm>
            <a:off x="8770010" y="207568"/>
            <a:ext cx="3141876" cy="785469"/>
          </a:xfrm>
          <a:prstGeom prst="rect">
            <a:avLst/>
          </a:prstGeom>
        </p:spPr>
      </p:pic>
      <p:cxnSp>
        <p:nvCxnSpPr>
          <p:cNvPr id="4" name="Connector 3"/>
          <p:cNvCxnSpPr/>
          <p:nvPr/>
        </p:nvCxnSpPr>
        <p:spPr>
          <a:xfrm>
            <a:off x="0" y="758037"/>
            <a:ext cx="4085539" cy="0"/>
          </a:xfrm>
          <a:prstGeom prst="line">
            <a:avLst/>
          </a:prstGeom>
          <a:ln w="15875">
            <a:solidFill>
              <a:srgbClr val="F5F7F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0" y="1131112"/>
            <a:ext cx="12191695" cy="646480"/>
          </a:xfrm>
          <a:prstGeom prst="rect">
            <a:avLst/>
          </a:prstGeom>
          <a:noFill/>
        </p:spPr>
        <p:txBody>
          <a:bodyPr wrap="square" lIns="0" tIns="0" rIns="0" bIns="0">
            <a:spAutoFit/>
          </a:bodyPr>
          <a:lstStyle/>
          <a:p>
            <a:pPr algn="ctr"/>
            <a:r>
              <a:rPr sz="3200" b="0" i="0">
                <a:solidFill>
                  <a:srgbClr val="1B2A41"/>
                </a:solidFill>
                <a:latin typeface="Calibri"/>
              </a:rPr>
              <a:t>Plan de Trabajo: Recursos y Riesgos</a:t>
            </a:r>
          </a:p>
        </p:txBody>
      </p:sp>
      <p:sp>
        <p:nvSpPr>
          <p:cNvPr id="9" name="TextBox 8"/>
          <p:cNvSpPr txBox="1"/>
          <p:nvPr/>
        </p:nvSpPr>
        <p:spPr>
          <a:xfrm>
            <a:off x="548640" y="2103120"/>
            <a:ext cx="3520440" cy="502920"/>
          </a:xfrm>
          <a:prstGeom prst="rect">
            <a:avLst/>
          </a:prstGeom>
          <a:noFill/>
        </p:spPr>
        <p:txBody>
          <a:bodyPr wrap="square" lIns="0" tIns="0" rIns="0" bIns="0">
            <a:spAutoFit/>
          </a:bodyPr>
          <a:lstStyle/>
          <a:p>
            <a:pPr algn="l">
              <a:lnSpc>
                <a:spcPct val="100000"/>
              </a:lnSpc>
            </a:pPr>
            <a:r>
              <a:rPr sz="1450" b="1" i="0">
                <a:solidFill>
                  <a:srgbClr val="0B2545"/>
                </a:solidFill>
                <a:latin typeface="Calibri"/>
              </a:rPr>
              <a:t>RECURSOS</a:t>
            </a:r>
          </a:p>
        </p:txBody>
      </p:sp>
      <p:sp>
        <p:nvSpPr>
          <p:cNvPr id="10" name="Oval 9"/>
          <p:cNvSpPr/>
          <p:nvPr/>
        </p:nvSpPr>
        <p:spPr>
          <a:xfrm>
            <a:off x="548640" y="2697480"/>
            <a:ext cx="274320" cy="2743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R</a:t>
            </a:r>
          </a:p>
        </p:txBody>
      </p:sp>
      <p:sp>
        <p:nvSpPr>
          <p:cNvPr id="11" name="TextBox 10"/>
          <p:cNvSpPr txBox="1"/>
          <p:nvPr/>
        </p:nvSpPr>
        <p:spPr>
          <a:xfrm>
            <a:off x="1005839" y="2651760"/>
            <a:ext cx="3063240" cy="77724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Equipo de 2 desarrolladores con roles definidos (Frontend/UX y Backend/GCP).</a:t>
            </a:r>
          </a:p>
        </p:txBody>
      </p:sp>
      <p:sp>
        <p:nvSpPr>
          <p:cNvPr id="12" name="Oval 11"/>
          <p:cNvSpPr/>
          <p:nvPr/>
        </p:nvSpPr>
        <p:spPr>
          <a:xfrm>
            <a:off x="548640" y="3474720"/>
            <a:ext cx="274320" cy="2743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R</a:t>
            </a:r>
          </a:p>
        </p:txBody>
      </p:sp>
      <p:sp>
        <p:nvSpPr>
          <p:cNvPr id="13" name="TextBox 12"/>
          <p:cNvSpPr txBox="1"/>
          <p:nvPr/>
        </p:nvSpPr>
        <p:spPr>
          <a:xfrm>
            <a:off x="1005839" y="3429000"/>
            <a:ext cx="3063240" cy="77724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Stack open-source: Next.js, FastAPI, PostgreSQL, Pandas, Workalendar.</a:t>
            </a:r>
          </a:p>
        </p:txBody>
      </p:sp>
      <p:sp>
        <p:nvSpPr>
          <p:cNvPr id="14" name="Oval 13"/>
          <p:cNvSpPr/>
          <p:nvPr/>
        </p:nvSpPr>
        <p:spPr>
          <a:xfrm>
            <a:off x="548640" y="4251959"/>
            <a:ext cx="274320" cy="2743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R</a:t>
            </a:r>
          </a:p>
        </p:txBody>
      </p:sp>
      <p:sp>
        <p:nvSpPr>
          <p:cNvPr id="15" name="TextBox 14"/>
          <p:cNvSpPr txBox="1"/>
          <p:nvPr/>
        </p:nvSpPr>
        <p:spPr>
          <a:xfrm>
            <a:off x="1005839" y="4206240"/>
            <a:ext cx="3063240" cy="77724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Cuenta GCP (capa gratuita) para Cloud Run, Cloud SQL y Cloud Storage.</a:t>
            </a:r>
          </a:p>
        </p:txBody>
      </p:sp>
      <p:sp>
        <p:nvSpPr>
          <p:cNvPr id="16" name="Oval 15"/>
          <p:cNvSpPr/>
          <p:nvPr/>
        </p:nvSpPr>
        <p:spPr>
          <a:xfrm>
            <a:off x="548640" y="5029199"/>
            <a:ext cx="274320" cy="2743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R</a:t>
            </a:r>
          </a:p>
        </p:txBody>
      </p:sp>
      <p:sp>
        <p:nvSpPr>
          <p:cNvPr id="17" name="TextBox 16"/>
          <p:cNvSpPr txBox="1"/>
          <p:nvPr/>
        </p:nvSpPr>
        <p:spPr>
          <a:xfrm>
            <a:off x="1005839" y="4983479"/>
            <a:ext cx="3063240" cy="77724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API de Claude (Anthropic) para el módulo de generación de documentos.</a:t>
            </a:r>
          </a:p>
        </p:txBody>
      </p:sp>
      <p:sp>
        <p:nvSpPr>
          <p:cNvPr id="18" name="Oval 17"/>
          <p:cNvSpPr/>
          <p:nvPr/>
        </p:nvSpPr>
        <p:spPr>
          <a:xfrm>
            <a:off x="548640" y="5806439"/>
            <a:ext cx="274320" cy="274320"/>
          </a:xfrm>
          <a:prstGeom prst="ellipse">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R</a:t>
            </a:r>
          </a:p>
        </p:txBody>
      </p:sp>
      <p:sp>
        <p:nvSpPr>
          <p:cNvPr id="19" name="TextBox 18"/>
          <p:cNvSpPr txBox="1"/>
          <p:nvPr/>
        </p:nvSpPr>
        <p:spPr>
          <a:xfrm>
            <a:off x="1005839" y="5760719"/>
            <a:ext cx="3063240" cy="77724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Tablero Jira y repositorio Git compartido para seguimiento y versionamiento.</a:t>
            </a:r>
          </a:p>
        </p:txBody>
      </p:sp>
      <p:sp>
        <p:nvSpPr>
          <p:cNvPr id="20" name="TextBox 19"/>
          <p:cNvSpPr txBox="1"/>
          <p:nvPr/>
        </p:nvSpPr>
        <p:spPr>
          <a:xfrm>
            <a:off x="4343400" y="2103120"/>
            <a:ext cx="3520440" cy="502920"/>
          </a:xfrm>
          <a:prstGeom prst="rect">
            <a:avLst/>
          </a:prstGeom>
          <a:noFill/>
        </p:spPr>
        <p:txBody>
          <a:bodyPr wrap="square" lIns="0" tIns="0" rIns="0" bIns="0">
            <a:spAutoFit/>
          </a:bodyPr>
          <a:lstStyle/>
          <a:p>
            <a:pPr algn="l">
              <a:lnSpc>
                <a:spcPct val="100000"/>
              </a:lnSpc>
            </a:pPr>
            <a:r>
              <a:rPr sz="1450" b="1" i="0">
                <a:solidFill>
                  <a:srgbClr val="0E7C86"/>
                </a:solidFill>
                <a:latin typeface="Calibri"/>
              </a:rPr>
              <a:t>FACILITADORES</a:t>
            </a:r>
          </a:p>
        </p:txBody>
      </p:sp>
      <p:sp>
        <p:nvSpPr>
          <p:cNvPr id="21" name="Oval 20"/>
          <p:cNvSpPr/>
          <p:nvPr/>
        </p:nvSpPr>
        <p:spPr>
          <a:xfrm>
            <a:off x="4343400" y="269748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2" name="TextBox 21"/>
          <p:cNvSpPr txBox="1"/>
          <p:nvPr/>
        </p:nvSpPr>
        <p:spPr>
          <a:xfrm>
            <a:off x="4800600" y="265176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Librerías maduras y gratuitas: feriados chilenos (Workalendar) y cálculo vectorizado (Pandas).</a:t>
            </a:r>
          </a:p>
        </p:txBody>
      </p:sp>
      <p:sp>
        <p:nvSpPr>
          <p:cNvPr id="23" name="Oval 22"/>
          <p:cNvSpPr/>
          <p:nvPr/>
        </p:nvSpPr>
        <p:spPr>
          <a:xfrm>
            <a:off x="4343400" y="356616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4" name="TextBox 23"/>
          <p:cNvSpPr txBox="1"/>
          <p:nvPr/>
        </p:nvSpPr>
        <p:spPr>
          <a:xfrm>
            <a:off x="4800600" y="3520439"/>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Documentación oficial de FastAPI, Next.js y GCP, ampliamente probada por la comunidad.</a:t>
            </a:r>
          </a:p>
        </p:txBody>
      </p:sp>
      <p:sp>
        <p:nvSpPr>
          <p:cNvPr id="25" name="Oval 24"/>
          <p:cNvSpPr/>
          <p:nvPr/>
        </p:nvSpPr>
        <p:spPr>
          <a:xfrm>
            <a:off x="4343400" y="443484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6" name="TextBox 25"/>
          <p:cNvSpPr txBox="1"/>
          <p:nvPr/>
        </p:nvSpPr>
        <p:spPr>
          <a:xfrm>
            <a:off x="4800600" y="438912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Dataset de entrada simple (CSV/Excel) sin integraciones externas críticas.</a:t>
            </a:r>
          </a:p>
        </p:txBody>
      </p:sp>
      <p:sp>
        <p:nvSpPr>
          <p:cNvPr id="27" name="Oval 26"/>
          <p:cNvSpPr/>
          <p:nvPr/>
        </p:nvSpPr>
        <p:spPr>
          <a:xfrm>
            <a:off x="4343400" y="530352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8" name="TextBox 27"/>
          <p:cNvSpPr txBox="1"/>
          <p:nvPr/>
        </p:nvSpPr>
        <p:spPr>
          <a:xfrm>
            <a:off x="4800600" y="525780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Niveles gratuitos de GCP suficientes para el volumen de datos de una demo de capstone.</a:t>
            </a:r>
          </a:p>
        </p:txBody>
      </p:sp>
      <p:sp>
        <p:nvSpPr>
          <p:cNvPr id="29" name="TextBox 28"/>
          <p:cNvSpPr txBox="1"/>
          <p:nvPr/>
        </p:nvSpPr>
        <p:spPr>
          <a:xfrm>
            <a:off x="8138160" y="2103120"/>
            <a:ext cx="3520440" cy="502920"/>
          </a:xfrm>
          <a:prstGeom prst="rect">
            <a:avLst/>
          </a:prstGeom>
          <a:noFill/>
        </p:spPr>
        <p:txBody>
          <a:bodyPr wrap="square" lIns="0" tIns="0" rIns="0" bIns="0">
            <a:spAutoFit/>
          </a:bodyPr>
          <a:lstStyle/>
          <a:p>
            <a:pPr algn="l">
              <a:lnSpc>
                <a:spcPct val="100000"/>
              </a:lnSpc>
            </a:pPr>
            <a:r>
              <a:rPr sz="1450" b="1" i="0">
                <a:solidFill>
                  <a:srgbClr val="FF6B4A"/>
                </a:solidFill>
                <a:latin typeface="Calibri"/>
              </a:rPr>
              <a:t>OBSTACULIZADORES</a:t>
            </a:r>
          </a:p>
        </p:txBody>
      </p:sp>
      <p:sp>
        <p:nvSpPr>
          <p:cNvPr id="30" name="Oval 29"/>
          <p:cNvSpPr/>
          <p:nvPr/>
        </p:nvSpPr>
        <p:spPr>
          <a:xfrm>
            <a:off x="8138160" y="2697480"/>
            <a:ext cx="274320" cy="274320"/>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31" name="TextBox 30"/>
          <p:cNvSpPr txBox="1"/>
          <p:nvPr/>
        </p:nvSpPr>
        <p:spPr>
          <a:xfrm>
            <a:off x="8595360" y="265176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Equipo reducido (2 personas) para un alcance ambicioso en 12 semanas.</a:t>
            </a:r>
          </a:p>
        </p:txBody>
      </p:sp>
      <p:sp>
        <p:nvSpPr>
          <p:cNvPr id="32" name="Oval 31"/>
          <p:cNvSpPr/>
          <p:nvPr/>
        </p:nvSpPr>
        <p:spPr>
          <a:xfrm>
            <a:off x="8138160" y="3566160"/>
            <a:ext cx="274320" cy="274320"/>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33" name="TextBox 32"/>
          <p:cNvSpPr txBox="1"/>
          <p:nvPr/>
        </p:nvSpPr>
        <p:spPr>
          <a:xfrm>
            <a:off x="8595360" y="3520439"/>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Curva de aprendizaje de la API de IA y de los servicios de GCP para el equipo.</a:t>
            </a:r>
          </a:p>
        </p:txBody>
      </p:sp>
      <p:sp>
        <p:nvSpPr>
          <p:cNvPr id="34" name="Oval 33"/>
          <p:cNvSpPr/>
          <p:nvPr/>
        </p:nvSpPr>
        <p:spPr>
          <a:xfrm>
            <a:off x="8138160" y="4434840"/>
            <a:ext cx="274320" cy="274320"/>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35" name="TextBox 34"/>
          <p:cNvSpPr txBox="1"/>
          <p:nvPr/>
        </p:nvSpPr>
        <p:spPr>
          <a:xfrm>
            <a:off x="8595360" y="438912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Conseguir un CSV real de un transportista para validar el diccionario de alias — ya formalizado como Task 1.13 obligatoria del Sprint 1.</a:t>
            </a:r>
          </a:p>
        </p:txBody>
      </p:sp>
      <p:sp>
        <p:nvSpPr>
          <p:cNvPr id="36" name="Oval 35"/>
          <p:cNvSpPr/>
          <p:nvPr/>
        </p:nvSpPr>
        <p:spPr>
          <a:xfrm>
            <a:off x="8138160" y="5303520"/>
            <a:ext cx="274320" cy="274320"/>
          </a:xfrm>
          <a:prstGeom prst="ellipse">
            <a:avLst/>
          </a:prstGeom>
          <a:solidFill>
            <a:srgbClr val="FF6B4A"/>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37" name="TextBox 36"/>
          <p:cNvSpPr txBox="1"/>
          <p:nvPr/>
        </p:nvSpPr>
        <p:spPr>
          <a:xfrm>
            <a:off x="8595360" y="5257800"/>
            <a:ext cx="3063240" cy="868680"/>
          </a:xfrm>
          <a:prstGeom prst="rect">
            <a:avLst/>
          </a:prstGeom>
          <a:noFill/>
        </p:spPr>
        <p:txBody>
          <a:bodyPr wrap="square" lIns="0" tIns="0" rIns="0" bIns="0">
            <a:spAutoFit/>
          </a:bodyPr>
          <a:lstStyle/>
          <a:p>
            <a:pPr algn="l">
              <a:lnSpc>
                <a:spcPct val="105000"/>
              </a:lnSpc>
            </a:pPr>
            <a:r>
              <a:rPr sz="1100" b="0" i="0">
                <a:solidFill>
                  <a:srgbClr val="1B2A41"/>
                </a:solidFill>
                <a:latin typeface="Calibri"/>
              </a:rPr>
              <a:t>Riesgo de atrasos de sprint; se mitiga priorizando el motor y la IA sobre el pulido visual.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8" descr="EscuelaIT Duoc UC - Escuela de Informática y Telecomunicaciones Duoc UC - Duoc  UC | LinkedIn"/>
          <p:cNvPicPr preferRelativeResize="0"/>
          <p:nvPr/>
        </p:nvPicPr>
        <p:blipFill rotWithShape="1">
          <a:blip r:embed="rId3">
            <a:alphaModFix/>
          </a:blip>
          <a:srcRect/>
          <a:stretch/>
        </p:blipFill>
        <p:spPr>
          <a:xfrm>
            <a:off x="8772152" y="207550"/>
            <a:ext cx="3141406" cy="785352"/>
          </a:xfrm>
          <a:prstGeom prst="rect">
            <a:avLst/>
          </a:prstGeom>
          <a:noFill/>
          <a:ln>
            <a:noFill/>
          </a:ln>
        </p:spPr>
      </p:pic>
      <p:sp>
        <p:nvSpPr>
          <p:cNvPr id="155" name="Google Shape;155;p8"/>
          <p:cNvSpPr txBox="1"/>
          <p:nvPr/>
        </p:nvSpPr>
        <p:spPr>
          <a:xfrm>
            <a:off x="136188" y="368928"/>
            <a:ext cx="12191999"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800">
                <a:solidFill>
                  <a:srgbClr val="757070"/>
                </a:solidFill>
                <a:latin typeface="Calibri"/>
                <a:ea typeface="Calibri"/>
                <a:cs typeface="Calibri"/>
                <a:sym typeface="Calibri"/>
              </a:rPr>
              <a:t>PROYECTO “LOGISLA”</a:t>
            </a:r>
            <a:endParaRPr/>
          </a:p>
        </p:txBody>
      </p:sp>
      <p:sp>
        <p:nvSpPr>
          <p:cNvPr id="156" name="Google Shape;156;p8"/>
          <p:cNvSpPr txBox="1"/>
          <p:nvPr/>
        </p:nvSpPr>
        <p:spPr>
          <a:xfrm>
            <a:off x="0" y="1432655"/>
            <a:ext cx="12191999" cy="10156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L" sz="3600">
                <a:solidFill>
                  <a:schemeClr val="dk1"/>
                </a:solidFill>
                <a:latin typeface="Calibri"/>
                <a:ea typeface="Calibri"/>
                <a:cs typeface="Calibri"/>
                <a:sym typeface="Calibri"/>
              </a:rPr>
              <a:t>Arquitectura del software</a:t>
            </a:r>
            <a:endParaRPr/>
          </a:p>
        </p:txBody>
      </p:sp>
      <p:cxnSp>
        <p:nvCxnSpPr>
          <p:cNvPr id="157" name="Google Shape;157;p8"/>
          <p:cNvCxnSpPr/>
          <p:nvPr/>
        </p:nvCxnSpPr>
        <p:spPr>
          <a:xfrm>
            <a:off x="0" y="758027"/>
            <a:ext cx="4085617" cy="0"/>
          </a:xfrm>
          <a:prstGeom prst="straightConnector1">
            <a:avLst/>
          </a:prstGeom>
          <a:noFill/>
          <a:ln w="15875" cap="flat" cmpd="sng">
            <a:solidFill>
              <a:srgbClr val="F5F7FC"/>
            </a:solidFill>
            <a:prstDash val="solid"/>
            <a:miter lim="8000"/>
            <a:headEnd type="none" w="sm" len="sm"/>
            <a:tailEnd type="none" w="sm" len="sm"/>
          </a:ln>
        </p:spPr>
      </p:cxnSp>
      <p:sp>
        <p:nvSpPr>
          <p:cNvPr id="158" name="Rounded Rectangle 157"/>
          <p:cNvSpPr/>
          <p:nvPr/>
        </p:nvSpPr>
        <p:spPr>
          <a:xfrm>
            <a:off x="548640" y="1965960"/>
            <a:ext cx="2331720" cy="960120"/>
          </a:xfrm>
          <a:prstGeom prst="roundRect">
            <a:avLst>
              <a:gd name="adj" fmla="val 10000"/>
            </a:avLst>
          </a:prstGeom>
          <a:solidFill>
            <a:srgbClr val="EFF4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a:solidFill>
                  <a:srgbClr val="0B2545"/>
                </a:solidFill>
                <a:latin typeface="Calibri"/>
              </a:rPr>
              <a:t>Usuario</a:t>
            </a:r>
          </a:p>
          <a:p>
            <a:pPr algn="ctr"/>
            <a:r>
              <a:rPr sz="950">
                <a:solidFill>
                  <a:srgbClr val="6B7686"/>
                </a:solidFill>
                <a:latin typeface="Calibri"/>
              </a:rPr>
              <a:t>Sube CSV / Excel masivo</a:t>
            </a:r>
          </a:p>
        </p:txBody>
      </p:sp>
      <p:sp>
        <p:nvSpPr>
          <p:cNvPr id="159" name="Rounded Rectangle 158"/>
          <p:cNvSpPr/>
          <p:nvPr/>
        </p:nvSpPr>
        <p:spPr>
          <a:xfrm>
            <a:off x="3154680" y="1965960"/>
            <a:ext cx="2514600" cy="960120"/>
          </a:xfrm>
          <a:prstGeom prst="roundRect">
            <a:avLst>
              <a:gd name="adj" fmla="val 10000"/>
            </a:avLst>
          </a:prstGeom>
          <a:solidFill>
            <a:srgbClr val="EFF4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a:solidFill>
                  <a:srgbClr val="0B2545"/>
                </a:solidFill>
                <a:latin typeface="Calibri"/>
              </a:rPr>
              <a:t>Frontend</a:t>
            </a:r>
          </a:p>
          <a:p>
            <a:pPr algn="ctr"/>
            <a:r>
              <a:rPr sz="950">
                <a:solidFill>
                  <a:srgbClr val="6B7686"/>
                </a:solidFill>
                <a:latin typeface="Calibri"/>
              </a:rPr>
              <a:t>Next.js 14 · TypeScript · Tailwind</a:t>
            </a:r>
          </a:p>
        </p:txBody>
      </p:sp>
      <p:sp>
        <p:nvSpPr>
          <p:cNvPr id="160" name="Rounded Rectangle 159"/>
          <p:cNvSpPr/>
          <p:nvPr/>
        </p:nvSpPr>
        <p:spPr>
          <a:xfrm>
            <a:off x="5943600" y="1965960"/>
            <a:ext cx="2514600" cy="960120"/>
          </a:xfrm>
          <a:prstGeom prst="roundRect">
            <a:avLst>
              <a:gd name="adj" fmla="val 10000"/>
            </a:avLst>
          </a:prstGeom>
          <a:solidFill>
            <a:srgbClr val="0B2545"/>
          </a:solidFill>
          <a:ln w="15875">
            <a:solidFill>
              <a:srgbClr val="0B2545"/>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a:solidFill>
                  <a:srgbClr val="FFFFFF"/>
                </a:solidFill>
                <a:latin typeface="Calibri"/>
              </a:rPr>
              <a:t>Backend API</a:t>
            </a:r>
          </a:p>
          <a:p>
            <a:pPr algn="ctr"/>
            <a:r>
              <a:rPr sz="950">
                <a:solidFill>
                  <a:srgbClr val="C9DAEB"/>
                </a:solidFill>
                <a:latin typeface="Calibri"/>
              </a:rPr>
              <a:t>FastAPI (Python) en Cloud Run</a:t>
            </a:r>
          </a:p>
        </p:txBody>
      </p:sp>
      <p:sp>
        <p:nvSpPr>
          <p:cNvPr id="161" name="Rounded Rectangle 160"/>
          <p:cNvSpPr/>
          <p:nvPr/>
        </p:nvSpPr>
        <p:spPr>
          <a:xfrm>
            <a:off x="8732520" y="1965960"/>
            <a:ext cx="2907792" cy="960120"/>
          </a:xfrm>
          <a:prstGeom prst="roundRect">
            <a:avLst>
              <a:gd name="adj" fmla="val 10000"/>
            </a:avLst>
          </a:prstGeom>
          <a:solidFill>
            <a:srgbClr val="EFF4F8"/>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a:solidFill>
                  <a:srgbClr val="0B2545"/>
                </a:solidFill>
                <a:latin typeface="Calibri"/>
              </a:rPr>
              <a:t>Datos</a:t>
            </a:r>
          </a:p>
          <a:p>
            <a:pPr algn="ctr"/>
            <a:r>
              <a:rPr sz="950">
                <a:solidFill>
                  <a:srgbClr val="6B7686"/>
                </a:solidFill>
                <a:latin typeface="Calibri"/>
              </a:rPr>
              <a:t>PostgreSQL (Cloud SQL) + Cloud Storage</a:t>
            </a:r>
          </a:p>
        </p:txBody>
      </p:sp>
      <p:cxnSp>
        <p:nvCxnSpPr>
          <p:cNvPr id="162" name="Connector 161"/>
          <p:cNvCxnSpPr/>
          <p:nvPr/>
        </p:nvCxnSpPr>
        <p:spPr>
          <a:xfrm>
            <a:off x="2880360" y="2446020"/>
            <a:ext cx="274320"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5669280" y="2446020"/>
            <a:ext cx="274320"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8458200" y="2446020"/>
            <a:ext cx="274320" cy="0"/>
          </a:xfrm>
          <a:prstGeom prst="line">
            <a:avLst/>
          </a:prstGeom>
          <a:ln w="22225">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5" name="Rounded Rectangle 164"/>
          <p:cNvSpPr/>
          <p:nvPr/>
        </p:nvSpPr>
        <p:spPr>
          <a:xfrm>
            <a:off x="3584448" y="3459385"/>
            <a:ext cx="3063240" cy="960120"/>
          </a:xfrm>
          <a:prstGeom prst="roundRect">
            <a:avLst>
              <a:gd name="adj" fmla="val 10000"/>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a:solidFill>
                  <a:srgbClr val="0B2545"/>
                </a:solidFill>
                <a:latin typeface="Calibri"/>
              </a:rPr>
              <a:t>Motor de Auditoría</a:t>
            </a:r>
          </a:p>
          <a:p>
            <a:pPr algn="ctr"/>
            <a:r>
              <a:rPr sz="950">
                <a:solidFill>
                  <a:srgbClr val="6B7686"/>
                </a:solidFill>
                <a:latin typeface="Calibri"/>
              </a:rPr>
              <a:t>Python + Pandas + Workalendar — determinístico, 100% propio</a:t>
            </a:r>
          </a:p>
        </p:txBody>
      </p:sp>
      <p:sp>
        <p:nvSpPr>
          <p:cNvPr id="166" name="Rounded Rectangle 165"/>
          <p:cNvSpPr/>
          <p:nvPr/>
        </p:nvSpPr>
        <p:spPr>
          <a:xfrm>
            <a:off x="6926580" y="3459385"/>
            <a:ext cx="3063240" cy="960120"/>
          </a:xfrm>
          <a:prstGeom prst="roundRect">
            <a:avLst>
              <a:gd name="adj" fmla="val 10000"/>
            </a:avLst>
          </a:prstGeom>
          <a:solidFill>
            <a:srgbClr val="FFE9E2"/>
          </a:solidFill>
          <a:ln w="15875">
            <a:solidFill>
              <a:srgbClr val="FF6B4A"/>
            </a:solidFill>
          </a:ln>
          <a:effectLst/>
        </p:spPr>
        <p:style>
          <a:lnRef idx="1">
            <a:schemeClr val="accent1"/>
          </a:lnRef>
          <a:fillRef idx="3">
            <a:schemeClr val="accent1"/>
          </a:fillRef>
          <a:effectRef idx="2">
            <a:schemeClr val="accent1"/>
          </a:effectRef>
          <a:fontRef idx="minor">
            <a:schemeClr val="lt1"/>
          </a:fontRef>
        </p:style>
        <p:txBody>
          <a:bodyPr wrap="square" lIns="109728" tIns="0" rIns="109728" bIns="0" rtlCol="0" anchor="ctr"/>
          <a:lstStyle/>
          <a:p>
            <a:pPr algn="ctr"/>
            <a:r>
              <a:rPr sz="1250" b="1" dirty="0" err="1">
                <a:solidFill>
                  <a:srgbClr val="FF6B4A"/>
                </a:solidFill>
                <a:latin typeface="Calibri"/>
              </a:rPr>
              <a:t>Módulo</a:t>
            </a:r>
            <a:r>
              <a:rPr sz="1250" b="1" dirty="0">
                <a:solidFill>
                  <a:srgbClr val="FF6B4A"/>
                </a:solidFill>
                <a:latin typeface="Calibri"/>
              </a:rPr>
              <a:t> de IA</a:t>
            </a:r>
          </a:p>
          <a:p>
            <a:pPr algn="ctr"/>
            <a:r>
              <a:rPr sz="950" dirty="0">
                <a:solidFill>
                  <a:srgbClr val="6B7686"/>
                </a:solidFill>
                <a:latin typeface="Calibri"/>
              </a:rPr>
              <a:t>API Claude — </a:t>
            </a:r>
            <a:r>
              <a:rPr sz="950" dirty="0" err="1">
                <a:solidFill>
                  <a:srgbClr val="6B7686"/>
                </a:solidFill>
                <a:latin typeface="Calibri"/>
              </a:rPr>
              <a:t>redacción</a:t>
            </a:r>
            <a:r>
              <a:rPr sz="950" dirty="0">
                <a:solidFill>
                  <a:srgbClr val="6B7686"/>
                </a:solidFill>
                <a:latin typeface="Calibri"/>
              </a:rPr>
              <a:t> de cartas de </a:t>
            </a:r>
            <a:r>
              <a:rPr sz="950" dirty="0" err="1">
                <a:solidFill>
                  <a:srgbClr val="6B7686"/>
                </a:solidFill>
                <a:latin typeface="Calibri"/>
              </a:rPr>
              <a:t>reclamo</a:t>
            </a:r>
            <a:r>
              <a:rPr sz="950" dirty="0">
                <a:solidFill>
                  <a:srgbClr val="6B7686"/>
                </a:solidFill>
                <a:latin typeface="Calibri"/>
              </a:rPr>
              <a:t> y </a:t>
            </a:r>
            <a:r>
              <a:rPr sz="950" dirty="0" err="1">
                <a:solidFill>
                  <a:srgbClr val="6B7686"/>
                </a:solidFill>
                <a:latin typeface="Calibri"/>
              </a:rPr>
              <a:t>resúmenes</a:t>
            </a:r>
            <a:endParaRPr sz="950" dirty="0">
              <a:solidFill>
                <a:srgbClr val="6B7686"/>
              </a:solidFill>
              <a:latin typeface="Calibri"/>
            </a:endParaRPr>
          </a:p>
        </p:txBody>
      </p:sp>
      <p:cxnSp>
        <p:nvCxnSpPr>
          <p:cNvPr id="167" name="Connector 166"/>
          <p:cNvCxnSpPr>
            <a:cxnSpLocks/>
            <a:endCxn id="165" idx="0"/>
          </p:cNvCxnSpPr>
          <p:nvPr/>
        </p:nvCxnSpPr>
        <p:spPr>
          <a:xfrm flipH="1">
            <a:off x="5116068" y="2926080"/>
            <a:ext cx="1810512" cy="533305"/>
          </a:xfrm>
          <a:prstGeom prst="line">
            <a:avLst/>
          </a:prstGeom>
          <a:ln w="1905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68" name="Connector 167"/>
          <p:cNvCxnSpPr>
            <a:cxnSpLocks/>
            <a:endCxn id="166" idx="0"/>
          </p:cNvCxnSpPr>
          <p:nvPr/>
        </p:nvCxnSpPr>
        <p:spPr>
          <a:xfrm>
            <a:off x="7662672" y="2926080"/>
            <a:ext cx="795528" cy="533305"/>
          </a:xfrm>
          <a:prstGeom prst="line">
            <a:avLst/>
          </a:prstGeom>
          <a:ln w="19050">
            <a:solidFill>
              <a:srgbClr val="FF6B4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9" name="Rounded Rectangle 168"/>
          <p:cNvSpPr/>
          <p:nvPr/>
        </p:nvSpPr>
        <p:spPr>
          <a:xfrm>
            <a:off x="548640" y="4892040"/>
            <a:ext cx="11091672" cy="1234440"/>
          </a:xfrm>
          <a:prstGeom prst="roundRect">
            <a:avLst>
              <a:gd name="adj" fmla="val 7000"/>
            </a:avLst>
          </a:prstGeom>
          <a:solidFill>
            <a:srgbClr val="0B2545"/>
          </a:solidFill>
          <a:ln>
            <a:noFill/>
          </a:ln>
          <a:effectLst/>
        </p:spPr>
        <p:style>
          <a:lnRef idx="1">
            <a:schemeClr val="accent1"/>
          </a:lnRef>
          <a:fillRef idx="3">
            <a:schemeClr val="accent1"/>
          </a:fillRef>
          <a:effectRef idx="2">
            <a:schemeClr val="accent1"/>
          </a:effectRef>
          <a:fontRef idx="minor">
            <a:schemeClr val="lt1"/>
          </a:fontRef>
        </p:style>
        <p:txBody>
          <a:bodyPr wrap="square" lIns="365760" tIns="0" rIns="365760" bIns="0" rtlCol="0" anchor="ctr"/>
          <a:lstStyle/>
          <a:p>
            <a:pPr algn="l">
              <a:spcAft>
                <a:spcPts val="600"/>
              </a:spcAft>
            </a:pPr>
            <a:r>
              <a:rPr sz="1250" b="1">
                <a:solidFill>
                  <a:srgbClr val="FFFFFF"/>
                </a:solidFill>
                <a:latin typeface="Calibri"/>
              </a:rPr>
              <a:t>Infraestructura (GCP):  Cloud Run (contenedores Docker)  ·  Cloud SQL  ·  Cloud Storage  ·  Secret Manager</a:t>
            </a:r>
          </a:p>
          <a:p>
            <a:pPr algn="l"/>
            <a:r>
              <a:rPr sz="1200">
                <a:solidFill>
                  <a:srgbClr val="C9DAEB"/>
                </a:solidFill>
                <a:latin typeface="Calibri"/>
              </a:rPr>
              <a:t>CI/CD:  GitHub Actions — build  →  tests (PyTest, Jest, Playwright)  →  deploy automático a Cloud Run en cada push a main</a:t>
            </a:r>
          </a:p>
        </p:txBody>
      </p:sp>
      <p:cxnSp>
        <p:nvCxnSpPr>
          <p:cNvPr id="170" name="Connector 169"/>
          <p:cNvCxnSpPr/>
          <p:nvPr/>
        </p:nvCxnSpPr>
        <p:spPr>
          <a:xfrm>
            <a:off x="10186416" y="2926080"/>
            <a:ext cx="0" cy="1965960"/>
          </a:xfrm>
          <a:prstGeom prst="line">
            <a:avLst/>
          </a:prstGeom>
          <a:ln w="19050">
            <a:solidFill>
              <a:srgbClr val="0E7C86"/>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108192" y="2011680"/>
            <a:ext cx="5806440" cy="4297680"/>
          </a:xfrm>
          <a:prstGeom prst="roundRect">
            <a:avLst>
              <a:gd name="adj" fmla="val 5000"/>
            </a:avLst>
          </a:prstGeom>
          <a:solidFill>
            <a:srgbClr val="F5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20040" y="2011680"/>
            <a:ext cx="5806440" cy="4297680"/>
          </a:xfrm>
          <a:prstGeom prst="roundRect">
            <a:avLst>
              <a:gd name="adj" fmla="val 5000"/>
            </a:avLst>
          </a:prstGeom>
          <a:solidFill>
            <a:srgbClr val="EF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136245" y="368503"/>
            <a:ext cx="11887200" cy="369417"/>
          </a:xfrm>
          <a:prstGeom prst="rect">
            <a:avLst/>
          </a:prstGeom>
          <a:noFill/>
        </p:spPr>
        <p:txBody>
          <a:bodyPr wrap="square" lIns="0" tIns="0" rIns="0" bIns="0">
            <a:spAutoFit/>
          </a:bodyPr>
          <a:lstStyle/>
          <a:p>
            <a:pPr algn="l"/>
            <a:r>
              <a:rPr sz="1800" b="0" i="0">
                <a:solidFill>
                  <a:srgbClr val="757070"/>
                </a:solidFill>
                <a:latin typeface="Calibri"/>
              </a:rPr>
              <a:t>PROYECTO “LOGISLA”</a:t>
            </a:r>
          </a:p>
        </p:txBody>
      </p:sp>
      <p:pic>
        <p:nvPicPr>
          <p:cNvPr id="3" name="Picture 2" descr="image.jpg"/>
          <p:cNvPicPr>
            <a:picLocks noChangeAspect="1"/>
          </p:cNvPicPr>
          <p:nvPr/>
        </p:nvPicPr>
        <p:blipFill>
          <a:blip r:embed="rId2"/>
          <a:stretch>
            <a:fillRect/>
          </a:stretch>
        </p:blipFill>
        <p:spPr>
          <a:xfrm>
            <a:off x="8770010" y="207568"/>
            <a:ext cx="3141876" cy="785469"/>
          </a:xfrm>
          <a:prstGeom prst="rect">
            <a:avLst/>
          </a:prstGeom>
        </p:spPr>
      </p:pic>
      <p:cxnSp>
        <p:nvCxnSpPr>
          <p:cNvPr id="4" name="Connector 3"/>
          <p:cNvCxnSpPr/>
          <p:nvPr/>
        </p:nvCxnSpPr>
        <p:spPr>
          <a:xfrm>
            <a:off x="0" y="758037"/>
            <a:ext cx="4085539" cy="0"/>
          </a:xfrm>
          <a:prstGeom prst="line">
            <a:avLst/>
          </a:prstGeom>
          <a:ln w="15875">
            <a:solidFill>
              <a:srgbClr val="F5F7FC"/>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0" y="1131112"/>
            <a:ext cx="12191695" cy="646480"/>
          </a:xfrm>
          <a:prstGeom prst="rect">
            <a:avLst/>
          </a:prstGeom>
          <a:noFill/>
        </p:spPr>
        <p:txBody>
          <a:bodyPr wrap="square" lIns="0" tIns="0" rIns="0" bIns="0">
            <a:spAutoFit/>
          </a:bodyPr>
          <a:lstStyle/>
          <a:p>
            <a:pPr algn="ctr"/>
            <a:r>
              <a:rPr sz="3200" b="0" i="0">
                <a:solidFill>
                  <a:srgbClr val="1B2A41"/>
                </a:solidFill>
                <a:latin typeface="Calibri"/>
              </a:rPr>
              <a:t>Evidencias del Logro y Trabajo en Equipo</a:t>
            </a:r>
          </a:p>
        </p:txBody>
      </p:sp>
      <p:sp>
        <p:nvSpPr>
          <p:cNvPr id="8" name="TextBox 7"/>
          <p:cNvSpPr txBox="1"/>
          <p:nvPr/>
        </p:nvSpPr>
        <p:spPr>
          <a:xfrm>
            <a:off x="548640" y="2148840"/>
            <a:ext cx="5349240" cy="502920"/>
          </a:xfrm>
          <a:prstGeom prst="rect">
            <a:avLst/>
          </a:prstGeom>
          <a:noFill/>
        </p:spPr>
        <p:txBody>
          <a:bodyPr wrap="square" lIns="0" tIns="0" rIns="0" bIns="0">
            <a:spAutoFit/>
          </a:bodyPr>
          <a:lstStyle/>
          <a:p>
            <a:pPr algn="l">
              <a:lnSpc>
                <a:spcPct val="100000"/>
              </a:lnSpc>
            </a:pPr>
            <a:r>
              <a:rPr sz="1450" b="1" i="0">
                <a:solidFill>
                  <a:srgbClr val="0E7C86"/>
                </a:solidFill>
                <a:latin typeface="Calibri"/>
              </a:rPr>
              <a:t>EVIDENCIAS POR SPRINT</a:t>
            </a:r>
          </a:p>
        </p:txBody>
      </p:sp>
      <p:sp>
        <p:nvSpPr>
          <p:cNvPr id="9" name="Oval 8"/>
          <p:cNvSpPr/>
          <p:nvPr/>
        </p:nvSpPr>
        <p:spPr>
          <a:xfrm>
            <a:off x="548640" y="274320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10" name="TextBox 9"/>
          <p:cNvSpPr txBox="1"/>
          <p:nvPr/>
        </p:nvSpPr>
        <p:spPr>
          <a:xfrm>
            <a:off x="1005839" y="269748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Sprints 1–2: repositorio Git con historial de commits y PRs; tablero Jira con tareas movidas a Done.</a:t>
            </a:r>
          </a:p>
        </p:txBody>
      </p:sp>
      <p:sp>
        <p:nvSpPr>
          <p:cNvPr id="11" name="Oval 10"/>
          <p:cNvSpPr/>
          <p:nvPr/>
        </p:nvSpPr>
        <p:spPr>
          <a:xfrm>
            <a:off x="548640" y="352044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12" name="TextBox 11"/>
          <p:cNvSpPr txBox="1"/>
          <p:nvPr/>
        </p:nvSpPr>
        <p:spPr>
          <a:xfrm>
            <a:off x="1005839" y="347472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Sprint 3: demo en vivo del dashboard con datos reales cargados y documento de reclamo generado por IA.</a:t>
            </a:r>
          </a:p>
        </p:txBody>
      </p:sp>
      <p:sp>
        <p:nvSpPr>
          <p:cNvPr id="13" name="Oval 12"/>
          <p:cNvSpPr/>
          <p:nvPr/>
        </p:nvSpPr>
        <p:spPr>
          <a:xfrm>
            <a:off x="548640" y="429768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14" name="TextBox 13"/>
          <p:cNvSpPr txBox="1"/>
          <p:nvPr/>
        </p:nvSpPr>
        <p:spPr>
          <a:xfrm>
            <a:off x="1005839" y="425196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Sprint 4: reportes de cobertura y resultados de PyTest, Jest y Playwright.</a:t>
            </a:r>
          </a:p>
        </p:txBody>
      </p:sp>
      <p:sp>
        <p:nvSpPr>
          <p:cNvPr id="15" name="Oval 14"/>
          <p:cNvSpPr/>
          <p:nvPr/>
        </p:nvSpPr>
        <p:spPr>
          <a:xfrm>
            <a:off x="548640" y="5074920"/>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16" name="TextBox 15"/>
          <p:cNvSpPr txBox="1"/>
          <p:nvPr/>
        </p:nvSpPr>
        <p:spPr>
          <a:xfrm>
            <a:off x="1005839" y="502920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Sprint 5: pipeline de GitHub Actions en verde y URL productiva en Cloud Run.</a:t>
            </a:r>
          </a:p>
        </p:txBody>
      </p:sp>
      <p:sp>
        <p:nvSpPr>
          <p:cNvPr id="17" name="Oval 16"/>
          <p:cNvSpPr/>
          <p:nvPr/>
        </p:nvSpPr>
        <p:spPr>
          <a:xfrm>
            <a:off x="548640" y="5852159"/>
            <a:ext cx="274320" cy="274320"/>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18" name="TextBox 17"/>
          <p:cNvSpPr txBox="1"/>
          <p:nvPr/>
        </p:nvSpPr>
        <p:spPr>
          <a:xfrm>
            <a:off x="1005839" y="580644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Sprint 6: informe final, video de demo y ensayo de defensa documentado.</a:t>
            </a:r>
          </a:p>
        </p:txBody>
      </p:sp>
      <p:sp>
        <p:nvSpPr>
          <p:cNvPr id="19" name="TextBox 18"/>
          <p:cNvSpPr txBox="1"/>
          <p:nvPr/>
        </p:nvSpPr>
        <p:spPr>
          <a:xfrm>
            <a:off x="6336792" y="2148840"/>
            <a:ext cx="5349240" cy="502920"/>
          </a:xfrm>
          <a:prstGeom prst="rect">
            <a:avLst/>
          </a:prstGeom>
          <a:noFill/>
        </p:spPr>
        <p:txBody>
          <a:bodyPr wrap="square" lIns="0" tIns="0" rIns="0" bIns="0">
            <a:spAutoFit/>
          </a:bodyPr>
          <a:lstStyle/>
          <a:p>
            <a:pPr algn="l">
              <a:lnSpc>
                <a:spcPct val="100000"/>
              </a:lnSpc>
            </a:pPr>
            <a:r>
              <a:rPr sz="1450" b="1" i="0">
                <a:solidFill>
                  <a:srgbClr val="6B7686"/>
                </a:solidFill>
                <a:latin typeface="Calibri"/>
              </a:rPr>
              <a:t>COLABORACIÓN Y TRABAJO EN EQUIPO</a:t>
            </a:r>
          </a:p>
        </p:txBody>
      </p:sp>
      <p:sp>
        <p:nvSpPr>
          <p:cNvPr id="20" name="Oval 19"/>
          <p:cNvSpPr/>
          <p:nvPr/>
        </p:nvSpPr>
        <p:spPr>
          <a:xfrm>
            <a:off x="6336792" y="2743200"/>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1" name="TextBox 20"/>
          <p:cNvSpPr txBox="1"/>
          <p:nvPr/>
        </p:nvSpPr>
        <p:spPr>
          <a:xfrm>
            <a:off x="6793992" y="269748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Roles fijos y complementarios (Frontend/UX vs. Backend/GCP) que evitan superposición de trabajo.</a:t>
            </a:r>
          </a:p>
        </p:txBody>
      </p:sp>
      <p:sp>
        <p:nvSpPr>
          <p:cNvPr id="22" name="Oval 21"/>
          <p:cNvSpPr/>
          <p:nvPr/>
        </p:nvSpPr>
        <p:spPr>
          <a:xfrm>
            <a:off x="6336792" y="3520440"/>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3" name="TextBox 22"/>
          <p:cNvSpPr txBox="1"/>
          <p:nvPr/>
        </p:nvSpPr>
        <p:spPr>
          <a:xfrm>
            <a:off x="6793992" y="347472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Sincronización dos veces por semana y revisión conjunta al cierre de cada sprint.</a:t>
            </a:r>
          </a:p>
        </p:txBody>
      </p:sp>
      <p:sp>
        <p:nvSpPr>
          <p:cNvPr id="24" name="Oval 23"/>
          <p:cNvSpPr/>
          <p:nvPr/>
        </p:nvSpPr>
        <p:spPr>
          <a:xfrm>
            <a:off x="6336792" y="4297680"/>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5" name="TextBox 24"/>
          <p:cNvSpPr txBox="1"/>
          <p:nvPr/>
        </p:nvSpPr>
        <p:spPr>
          <a:xfrm>
            <a:off x="6793992" y="425196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Repositorio compartido en GitHub con Pull Requests y revisión cruzada antes de integrar a main.</a:t>
            </a:r>
          </a:p>
        </p:txBody>
      </p:sp>
      <p:sp>
        <p:nvSpPr>
          <p:cNvPr id="26" name="Oval 25"/>
          <p:cNvSpPr/>
          <p:nvPr/>
        </p:nvSpPr>
        <p:spPr>
          <a:xfrm>
            <a:off x="6336792" y="5074920"/>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7" name="TextBox 26"/>
          <p:cNvSpPr txBox="1"/>
          <p:nvPr/>
        </p:nvSpPr>
        <p:spPr>
          <a:xfrm>
            <a:off x="6793992" y="502920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Tablero Kanban en Jira visible para ambos, con responsable y story points por tarea.</a:t>
            </a:r>
          </a:p>
        </p:txBody>
      </p:sp>
      <p:sp>
        <p:nvSpPr>
          <p:cNvPr id="28" name="Oval 27"/>
          <p:cNvSpPr/>
          <p:nvPr/>
        </p:nvSpPr>
        <p:spPr>
          <a:xfrm>
            <a:off x="6336792" y="5852159"/>
            <a:ext cx="274320" cy="274320"/>
          </a:xfrm>
          <a:prstGeom prst="ellipse">
            <a:avLst/>
          </a:prstGeom>
          <a:solidFill>
            <a:srgbClr val="6B7686"/>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000" b="1">
                <a:solidFill>
                  <a:srgbClr val="FFFFFF"/>
                </a:solidFill>
                <a:latin typeface="Calibri"/>
              </a:rPr>
              <a:t>•</a:t>
            </a:r>
          </a:p>
        </p:txBody>
      </p:sp>
      <p:sp>
        <p:nvSpPr>
          <p:cNvPr id="29" name="TextBox 28"/>
          <p:cNvSpPr txBox="1"/>
          <p:nvPr/>
        </p:nvSpPr>
        <p:spPr>
          <a:xfrm>
            <a:off x="6793992" y="5806440"/>
            <a:ext cx="4892040" cy="777240"/>
          </a:xfrm>
          <a:prstGeom prst="rect">
            <a:avLst/>
          </a:prstGeom>
          <a:noFill/>
        </p:spPr>
        <p:txBody>
          <a:bodyPr wrap="square" lIns="0" tIns="0" rIns="0" bIns="0">
            <a:spAutoFit/>
          </a:bodyPr>
          <a:lstStyle/>
          <a:p>
            <a:pPr algn="l">
              <a:lnSpc>
                <a:spcPct val="105000"/>
              </a:lnSpc>
            </a:pPr>
            <a:r>
              <a:rPr sz="1200" b="0" i="0">
                <a:solidFill>
                  <a:srgbClr val="1B2A41"/>
                </a:solidFill>
                <a:latin typeface="Calibri"/>
              </a:rPr>
              <a:t>Puntos de integración (ej. contrato API IA ↔ frontend) definidos en conjunto antes de programarlos.</a:t>
            </a:r>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0E7C86"/>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1877</Words>
  <Application>Microsoft Office PowerPoint</Application>
  <PresentationFormat>Panorámica</PresentationFormat>
  <Paragraphs>219</Paragraphs>
  <Slides>12</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Calibri</vt:lpstr>
      <vt:lpstr>Cambria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Gerardo Galan Cruz</dc:creator>
  <cp:lastModifiedBy>jose salvatierra</cp:lastModifiedBy>
  <cp:revision>2</cp:revision>
  <dcterms:created xsi:type="dcterms:W3CDTF">2023-10-28T21:12:11Z</dcterms:created>
  <dcterms:modified xsi:type="dcterms:W3CDTF">2026-09-08T01:16:49Z</dcterms:modified>
</cp:coreProperties>
</file>