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A10676A-2CD8-4DBB-510C-712AB73F808C}">
          <p14:sldIdLst>
            <p14:sldId id="256"/>
          </p14:sldIdLst>
        </p14:section>
        <p14:section name="Avance" id="{FA6F51D1-0268-3BD9-7F84-5F18F3F54172}">
          <p14:sldIdLst>
            <p14:sldId id="257"/>
            <p14:sldId id="258"/>
            <p14:sldId id="259"/>
            <p14:sldId id="265"/>
            <p14:sldId id="260"/>
          </p14:sldIdLst>
        </p14:section>
        <p14:section name="Calidad y ajustes" id="{95C91786-B590-98C4-F1B7-D731E6B1E7A4}">
          <p14:sldIdLst>
            <p14:sldId id="261"/>
            <p14:sldId id="262"/>
            <p14:sldId id="263"/>
          </p14:sldIdLst>
        </p14:section>
        <p14:section name="Cierre" id="{08BB37AD-1952-5863-1569-234391D3DF6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13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r>
              <a:rPr lang="es-ES" sz="1400" b="0">
                <a:solidFill>
                  <a:srgbClr val="12263F"/>
                </a:solidFill>
                <a:latin typeface="Calibri"/>
              </a:rPr>
              <a:t>Burndown del Sprint 3 (puntos pendientes por día)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Ideal</c:v>
                </c:pt>
              </c:strCache>
            </c:strRef>
          </c:tx>
          <c:spPr>
            <a:ln w="22225">
              <a:solidFill>
                <a:srgbClr val="5B7083"/>
              </a:solidFill>
              <a:prstDash val="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20</c:v>
                </c:pt>
                <c:pt idx="1">
                  <c:v>18</c:v>
                </c:pt>
                <c:pt idx="2">
                  <c:v>16</c:v>
                </c:pt>
                <c:pt idx="3">
                  <c:v>14</c:v>
                </c:pt>
                <c:pt idx="4">
                  <c:v>12</c:v>
                </c:pt>
                <c:pt idx="5">
                  <c:v>10</c:v>
                </c:pt>
                <c:pt idx="6">
                  <c:v>8</c:v>
                </c:pt>
                <c:pt idx="7">
                  <c:v>6</c:v>
                </c:pt>
                <c:pt idx="8">
                  <c:v>4</c:v>
                </c:pt>
                <c:pt idx="9">
                  <c:v>2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237-4DFD-BA0F-D4652942394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1F6F8B"/>
              </a:solidFill>
            </a:ln>
          </c:spPr>
          <c:marker>
            <c:symbol val="circle"/>
            <c:size val="7"/>
            <c:spPr>
              <a:solidFill>
                <a:srgbClr val="1F6F8B"/>
              </a:solidFill>
              <a:ln>
                <a:solidFill>
                  <a:srgbClr val="1F6F8B"/>
                </a:solidFill>
              </a:ln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20</c:v>
                </c:pt>
                <c:pt idx="1">
                  <c:v>20</c:v>
                </c:pt>
                <c:pt idx="2">
                  <c:v>19</c:v>
                </c:pt>
                <c:pt idx="3">
                  <c:v>17</c:v>
                </c:pt>
                <c:pt idx="4">
                  <c:v>15</c:v>
                </c:pt>
                <c:pt idx="5">
                  <c:v>12</c:v>
                </c:pt>
                <c:pt idx="6">
                  <c:v>10</c:v>
                </c:pt>
                <c:pt idx="7">
                  <c:v>7</c:v>
                </c:pt>
                <c:pt idx="8">
                  <c:v>4</c:v>
                </c:pt>
                <c:pt idx="9">
                  <c:v>2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237-4DFD-BA0F-D465294239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s-ES" sz="1200" b="0">
                    <a:solidFill>
                      <a:srgbClr val="5B7083"/>
                    </a:solidFill>
                    <a:latin typeface="Calibri"/>
                  </a:rPr>
                  <a:t>Día hábil del sprint (semanas 9 y 10)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888888"/>
            </a:solidFill>
          </a:ln>
        </c:spPr>
        <c:txPr>
          <a:bodyPr/>
          <a:lstStyle/>
          <a:p>
            <a:pPr>
              <a:defRPr sz="1200">
                <a:solidFill>
                  <a:srgbClr val="5B7083"/>
                </a:solidFill>
                <a:latin typeface="Calibri"/>
              </a:defRPr>
            </a:pPr>
            <a:endParaRPr lang="es-CL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0"/>
          <c:min val="0"/>
        </c:scaling>
        <c:delete val="0"/>
        <c:axPos val="l"/>
        <c:majorGridlines>
          <c:spPr>
            <a:ln w="6350">
              <a:solidFill>
                <a:srgbClr val="D5DCE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888888"/>
            </a:solidFill>
          </a:ln>
        </c:spPr>
        <c:txPr>
          <a:bodyPr/>
          <a:lstStyle/>
          <a:p>
            <a:pPr>
              <a:defRPr sz="1200">
                <a:solidFill>
                  <a:srgbClr val="5B7083"/>
                </a:solidFill>
                <a:latin typeface="Calibri"/>
              </a:defRPr>
            </a:pPr>
            <a:endParaRPr lang="es-CL"/>
          </a:p>
        </c:txPr>
        <c:crossAx val="2118791784"/>
        <c:crosses val="autoZero"/>
        <c:crossBetween val="between"/>
        <c:majorUnit val="5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14202E"/>
              </a:solidFill>
              <a:latin typeface="Calibri"/>
            </a:defRPr>
          </a:pPr>
          <a:endParaRPr lang="es-CL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s-CL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263F"/>
                </a:solidFill>
                <a:latin typeface="+mn-lt"/>
              </a:defRPr>
            </a:pPr>
            <a:r>
              <a:rPr lang="es-CL" sz="1400" b="0" i="0" u="none" strike="noStrike">
                <a:solidFill>
                  <a:srgbClr val="12263F"/>
                </a:solidFill>
                <a:latin typeface="+mn-lt"/>
              </a:rPr>
              <a:t>38 pruebas de backend (PyTest)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Casos de prueba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4202E"/>
                    </a:solidFill>
                    <a:latin typeface="+mn-lt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Motor de auditoría</c:v>
                </c:pt>
                <c:pt idx="1">
                  <c:v>Mapeo de columnas</c:v>
                </c:pt>
                <c:pt idx="2">
                  <c:v>Carga de archivos</c:v>
                </c:pt>
                <c:pt idx="3">
                  <c:v>Auditoría vía API</c:v>
                </c:pt>
                <c:pt idx="4">
                  <c:v>Consultas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6</c:v>
                </c:pt>
                <c:pt idx="2">
                  <c:v>4</c:v>
                </c:pt>
                <c:pt idx="3">
                  <c:v>3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E6-475C-B570-BF135874701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02E"/>
                </a:solidFill>
                <a:latin typeface="+mn-lt"/>
              </a:defRPr>
            </a:pPr>
            <a:endParaRPr lang="es-CL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t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27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Presentamos el avance de LogiSLA al cierre de la Fase 2. Se completaron los tres primeros sprints: ingesta, motor de auditoría y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Tres de cinco sprints completados. Los seis objetivos específicos de la Fase 1 se mantienen. Hay 38 pruebas automatizadas en el backend; las pruebas del frontend llegan en el Sprint 4. Los ajustes de metodología y calendario se justifican en la guía 2.4.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Flujo actual del prototipo: cargar el archivo, auditarlo contra las reglas SLA, revisar resultados y descargar los incumplimientos. La carta de reclamo con IA se construye en el Sprint 4 y nunca modificará los montos.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Sprint 1 se extendió a seis semanas porque el backend se retomó desde cero. El Sprint 3 se planificó con 36 puntos y se completaron 20: los gráficos y la IA pasan al Sprint 4. La clase del 13 de octubre se suspendió por un temporal de lluvia y viento, y la del 20 de octubre fue en línea, con las instrucciones para esta presentación. Por eso las semanas 11 y 12 se destinaron al cierre de la Fase 2 y la IA y la migración a PostgreSQL se corrieron: el Sprint 4 va del 28 de octubre al 9 de noviembre y el Sprint 5 del 10 al 16 de noviembre, porque el martes 17 de noviembre (semana 15) el proyecto debe estar terminado y funcionando sin errores. Defensa: 1 de diciembre.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Sprint 3 empezó lento porque definimos el contrato de cada endpoint antes de programar, para que backend y frontend avanzaran en paralelo. Cerramos con 0 puntos pendientes de los 20 comprometidos. Los 16 puntos de gráficos e IA pasaron al Sprint 4. Nuestra velocidad real está entre 20 y 24 puntos por sprint de dos semanas.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entidad-relación completo en el Anexo A de la guía 2.4 y en la carpeta de evidencias de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 38 pruebas se escribieron junto al código en cada sprint y no dependen de red ni de una base de datos externa. Las pruebas del frontend con node:test se agregan en el Sprint 4 y las end-to-end con Playwright en el Sprint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ajuste está justificado en la sección 3 de la guía 2.4. Los objetivos no cambian. El ajuste más importante es la replanificación del Sprint 3 por sobrecompromiso: se mueven los gráficos y la IA al Sprint 4. Además, por la clase suspendida del 13 de octubre y la clase en línea del 20 de octubre, el Sprint 4 parte el 28 de octubre y el Sprint 5 termina el 16 de noviembre, un día antes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dificultad tiene una acción concreta. El bloqueo del computador de la práctica se resolvió probando en equipos personales. El sobrecompromiso del Sprint 3 nos llevó a planificar con la velocidad real del equipo, entre 20 y 24 puntos por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Sprints 4 y 5 concentran el mayor riesgo: la API de IA, la curva de aprendizaje de GCP y un plazo corto: el 17 de noviembre el proyecto debe estar terminado y funcionando sin errores. Si el Sprint 5 no alcanza, se prioriza CI/CD y pruebas E2E, luego el informe y al final el despliegue, con la demo local como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226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LogiSLA · Presentación de avance · Fase 2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LogiSLA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6"/>
                </a:solidFill>
              </a:rPr>
              <a:t>Auditoría automática de SLA de transporte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Presentación de avance · Fase 2 · Proyecto APT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Sebastián Acuña · José Salvatierra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Ingeniería en Informática · Duoc UC · Octubre de 2026</a:t>
            </a:r>
            <a:endParaRPr lang="en-US" sz="14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F3F884F-B5E2-F6D0-67FF-BBE4D45A3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782" y="1911231"/>
            <a:ext cx="3475578" cy="111529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Resumen del avance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Al cierre de la semana 10 se completaron los Sprints 1 a 3; el Sprint 3 cerró con alcance ajustado.</a:t>
            </a:r>
            <a:endParaRPr lang="en-US" sz="1600" dirty="0"/>
          </a:p>
        </p:txBody>
      </p:sp>
      <p:sp>
        <p:nvSpPr>
          <p:cNvPr id="4" name="Tarjeta cifra 1"/>
          <p:cNvSpPr/>
          <p:nvPr/>
        </p:nvSpPr>
        <p:spPr>
          <a:xfrm>
            <a:off x="457200" y="1737360"/>
            <a:ext cx="1920240" cy="22402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457200" y="18745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de 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8892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sprints completados</a:t>
            </a:r>
            <a:endParaRPr lang="en-US" sz="1400" dirty="0"/>
          </a:p>
        </p:txBody>
      </p:sp>
      <p:sp>
        <p:nvSpPr>
          <p:cNvPr id="7" name="Tarjeta cifra 2"/>
          <p:cNvSpPr/>
          <p:nvPr/>
        </p:nvSpPr>
        <p:spPr>
          <a:xfrm>
            <a:off x="2569464" y="1737360"/>
            <a:ext cx="1920240" cy="22402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2569464" y="18745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706624" y="278892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objetivos específicos se mantienen</a:t>
            </a:r>
            <a:endParaRPr lang="en-US" sz="1400" dirty="0"/>
          </a:p>
        </p:txBody>
      </p:sp>
      <p:sp>
        <p:nvSpPr>
          <p:cNvPr id="10" name="Tarjeta cifra 3"/>
          <p:cNvSpPr/>
          <p:nvPr/>
        </p:nvSpPr>
        <p:spPr>
          <a:xfrm>
            <a:off x="4681728" y="1737360"/>
            <a:ext cx="1920240" cy="22402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681728" y="18745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278892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pruebas automatizadas en el backend (PyTest)</a:t>
            </a:r>
            <a:endParaRPr lang="en-US" sz="1400" dirty="0"/>
          </a:p>
        </p:txBody>
      </p:sp>
      <p:sp>
        <p:nvSpPr>
          <p:cNvPr id="13" name="Tarjeta cifra 4"/>
          <p:cNvSpPr/>
          <p:nvPr/>
        </p:nvSpPr>
        <p:spPr>
          <a:xfrm>
            <a:off x="6793992" y="1737360"/>
            <a:ext cx="1920240" cy="22402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6793992" y="18745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6931152" y="278892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guías en el archivo de prueba del prototipo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Qué hace LogiSLA hoy</a:t>
            </a:r>
            <a:endParaRPr lang="en-US" sz="3400" dirty="0"/>
          </a:p>
        </p:txBody>
      </p:sp>
      <p:sp>
        <p:nvSpPr>
          <p:cNvPr id="3" name="Tarjeta paso 1"/>
          <p:cNvSpPr/>
          <p:nvPr/>
        </p:nvSpPr>
        <p:spPr>
          <a:xfrm>
            <a:off x="457200" y="1325880"/>
            <a:ext cx="1920240" cy="251460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Circulo icono 1"/>
          <p:cNvSpPr/>
          <p:nvPr/>
        </p:nvSpPr>
        <p:spPr>
          <a:xfrm>
            <a:off x="1097280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Carg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6459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Cargar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74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Archivo CSV o Excel; reconoce las columnas aunque cambien de nombre.</a:t>
            </a:r>
            <a:endParaRPr lang="en-US" sz="1400" dirty="0"/>
          </a:p>
        </p:txBody>
      </p:sp>
      <p:sp>
        <p:nvSpPr>
          <p:cNvPr id="8" name="Flecha 1"/>
          <p:cNvSpPr/>
          <p:nvPr/>
        </p:nvSpPr>
        <p:spPr>
          <a:xfrm>
            <a:off x="2395728" y="2468880"/>
            <a:ext cx="155448" cy="22860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arjeta paso 2"/>
          <p:cNvSpPr/>
          <p:nvPr/>
        </p:nvSpPr>
        <p:spPr>
          <a:xfrm>
            <a:off x="2569464" y="1325880"/>
            <a:ext cx="1920240" cy="251460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Circulo icono 2"/>
          <p:cNvSpPr/>
          <p:nvPr/>
        </p:nvSpPr>
        <p:spPr>
          <a:xfrm>
            <a:off x="3209544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Audita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64592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69464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Auditar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706624" y="26974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Horas hábiles, feriados chilenos y multa según la regla SLA.</a:t>
            </a:r>
            <a:endParaRPr lang="en-US" sz="1400" dirty="0"/>
          </a:p>
        </p:txBody>
      </p:sp>
      <p:sp>
        <p:nvSpPr>
          <p:cNvPr id="14" name="Flecha 2"/>
          <p:cNvSpPr/>
          <p:nvPr/>
        </p:nvSpPr>
        <p:spPr>
          <a:xfrm>
            <a:off x="4507992" y="2468880"/>
            <a:ext cx="155448" cy="22860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arjeta paso 3"/>
          <p:cNvSpPr/>
          <p:nvPr/>
        </p:nvSpPr>
        <p:spPr>
          <a:xfrm>
            <a:off x="4681728" y="1325880"/>
            <a:ext cx="1920240" cy="251460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Circulo icono 3"/>
          <p:cNvSpPr/>
          <p:nvPr/>
        </p:nvSpPr>
        <p:spPr>
          <a:xfrm>
            <a:off x="5321808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Revis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681728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Revisar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4818888" y="26974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Dashboard con franja de cumplimiento y desglose por transportista.</a:t>
            </a:r>
            <a:endParaRPr lang="en-US" sz="1400" dirty="0"/>
          </a:p>
        </p:txBody>
      </p:sp>
      <p:sp>
        <p:nvSpPr>
          <p:cNvPr id="20" name="Flecha 3"/>
          <p:cNvSpPr/>
          <p:nvPr/>
        </p:nvSpPr>
        <p:spPr>
          <a:xfrm>
            <a:off x="6620256" y="2468880"/>
            <a:ext cx="155448" cy="22860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arjeta paso 4"/>
          <p:cNvSpPr/>
          <p:nvPr/>
        </p:nvSpPr>
        <p:spPr>
          <a:xfrm>
            <a:off x="6793992" y="1325880"/>
            <a:ext cx="1920240" cy="251460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Circulo icono 4"/>
          <p:cNvSpPr/>
          <p:nvPr/>
        </p:nvSpPr>
        <p:spPr>
          <a:xfrm>
            <a:off x="7434072" y="15087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Reclam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64592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793992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2"/>
                </a:solidFill>
              </a:rPr>
              <a:t>Descargar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931152" y="269748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/>
                </a:solidFill>
              </a:rPr>
              <a:t>Tabla de guías con filtros y búsqueda; incumplimientos en CSV.</a:t>
            </a:r>
            <a:endParaRPr lang="en-US" sz="1400" dirty="0"/>
          </a:p>
        </p:txBody>
      </p:sp>
      <p:sp>
        <p:nvSpPr>
          <p:cNvPr id="26" name="Banner IA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1"/>
          <p:cNvSpPr txBox="1"/>
          <p:nvPr/>
        </p:nvSpPr>
        <p:spPr>
          <a:xfrm>
            <a:off x="640080" y="4023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Próximo (Sprint 4): carta de reclamo y resumen ejecutivo con IA. La IA solo redactará el texto; las cifras las genera siempre el sistema.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Avance por sprint</a:t>
            </a:r>
            <a:endParaRPr lang="en-US" sz="3400" dirty="0"/>
          </a:p>
        </p:txBody>
      </p:sp>
      <p:sp>
        <p:nvSpPr>
          <p:cNvPr id="3" name="Fila Sprint 1"/>
          <p:cNvSpPr/>
          <p:nvPr/>
        </p:nvSpPr>
        <p:spPr>
          <a:xfrm>
            <a:off x="457200" y="1188720"/>
            <a:ext cx="8229600" cy="612648"/>
          </a:xfrm>
          <a:prstGeom prst="roundRect">
            <a:avLst>
              <a:gd name="adj" fmla="val 1194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51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188720"/>
            <a:ext cx="1371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Semanas 1 a 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154680" y="1188720"/>
            <a:ext cx="40233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Modelo de 5 tablas, API de carga y reconocimiento de columnas</a:t>
            </a:r>
            <a:endParaRPr lang="en-US" sz="1400" dirty="0"/>
          </a:p>
        </p:txBody>
      </p:sp>
      <p:sp>
        <p:nvSpPr>
          <p:cNvPr id="7" name="Estado Sprint 1"/>
          <p:cNvSpPr/>
          <p:nvPr/>
        </p:nvSpPr>
        <p:spPr>
          <a:xfrm>
            <a:off x="7315200" y="1325880"/>
            <a:ext cx="1234440" cy="338328"/>
          </a:xfrm>
          <a:prstGeom prst="roundRect">
            <a:avLst>
              <a:gd name="adj" fmla="val 4864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7315200" y="1325880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9" name="Fila Sprint 2"/>
          <p:cNvSpPr/>
          <p:nvPr/>
        </p:nvSpPr>
        <p:spPr>
          <a:xfrm>
            <a:off x="457200" y="1892808"/>
            <a:ext cx="8229600" cy="612648"/>
          </a:xfrm>
          <a:prstGeom prst="roundRect">
            <a:avLst>
              <a:gd name="adj" fmla="val 1194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640080" y="1892808"/>
            <a:ext cx="1051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1892808"/>
            <a:ext cx="1371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Semanas 7 y 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154680" y="1892808"/>
            <a:ext cx="40233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Motor de auditoría: horas hábiles, feriados y multas</a:t>
            </a:r>
            <a:endParaRPr lang="en-US" sz="1400" dirty="0"/>
          </a:p>
        </p:txBody>
      </p:sp>
      <p:sp>
        <p:nvSpPr>
          <p:cNvPr id="13" name="Estado Sprint 2"/>
          <p:cNvSpPr/>
          <p:nvPr/>
        </p:nvSpPr>
        <p:spPr>
          <a:xfrm>
            <a:off x="7315200" y="2029968"/>
            <a:ext cx="1234440" cy="338328"/>
          </a:xfrm>
          <a:prstGeom prst="roundRect">
            <a:avLst>
              <a:gd name="adj" fmla="val 4864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315200" y="2029968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15" name="Fila Sprint 3"/>
          <p:cNvSpPr/>
          <p:nvPr/>
        </p:nvSpPr>
        <p:spPr>
          <a:xfrm>
            <a:off x="457200" y="2596896"/>
            <a:ext cx="8229600" cy="612648"/>
          </a:xfrm>
          <a:prstGeom prst="roundRect">
            <a:avLst>
              <a:gd name="adj" fmla="val 1194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640080" y="2596896"/>
            <a:ext cx="1051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2596896"/>
            <a:ext cx="1371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Semanas 9 y 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596896"/>
            <a:ext cx="40233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Consultas, dashboard y tabla de guías (gráficos e IA pasan al Sprint 4)</a:t>
            </a:r>
            <a:endParaRPr lang="en-US" sz="1400" dirty="0"/>
          </a:p>
        </p:txBody>
      </p:sp>
      <p:sp>
        <p:nvSpPr>
          <p:cNvPr id="19" name="Estado Sprint 3"/>
          <p:cNvSpPr/>
          <p:nvPr/>
        </p:nvSpPr>
        <p:spPr>
          <a:xfrm>
            <a:off x="7315200" y="2734056"/>
            <a:ext cx="1234440" cy="338328"/>
          </a:xfrm>
          <a:prstGeom prst="roundRect">
            <a:avLst>
              <a:gd name="adj" fmla="val 48649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7315200" y="2734056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21" name="Fila Sprint 4"/>
          <p:cNvSpPr/>
          <p:nvPr/>
        </p:nvSpPr>
        <p:spPr>
          <a:xfrm>
            <a:off x="457200" y="3300984"/>
            <a:ext cx="8229600" cy="612648"/>
          </a:xfrm>
          <a:prstGeom prst="roundRect">
            <a:avLst>
              <a:gd name="adj" fmla="val 1194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640080" y="3300984"/>
            <a:ext cx="1051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3300984"/>
            <a:ext cx="1371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Semanas 12 y 13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3154680" y="3300984"/>
            <a:ext cx="40233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IA generativa, gráficos, PostgreSQL con Alembic, Docker y pruebas del frontend</a:t>
            </a:r>
            <a:endParaRPr lang="en-US" sz="1400" dirty="0"/>
          </a:p>
        </p:txBody>
      </p:sp>
      <p:sp>
        <p:nvSpPr>
          <p:cNvPr id="25" name="Estado Sprint 4"/>
          <p:cNvSpPr/>
          <p:nvPr/>
        </p:nvSpPr>
        <p:spPr>
          <a:xfrm>
            <a:off x="7315200" y="3438144"/>
            <a:ext cx="1234440" cy="338328"/>
          </a:xfrm>
          <a:prstGeom prst="roundRect">
            <a:avLst>
              <a:gd name="adj" fmla="val 48649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7315200" y="3438144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Por iniciar</a:t>
            </a:r>
            <a:endParaRPr lang="en-US" sz="1200" dirty="0"/>
          </a:p>
        </p:txBody>
      </p:sp>
      <p:sp>
        <p:nvSpPr>
          <p:cNvPr id="27" name="Fila Sprint 5"/>
          <p:cNvSpPr/>
          <p:nvPr/>
        </p:nvSpPr>
        <p:spPr>
          <a:xfrm>
            <a:off x="457200" y="4005072"/>
            <a:ext cx="8229600" cy="612648"/>
          </a:xfrm>
          <a:prstGeom prst="roundRect">
            <a:avLst>
              <a:gd name="adj" fmla="val 1194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640080" y="4005072"/>
            <a:ext cx="1051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5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737360" y="4005072"/>
            <a:ext cx="1371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Semana 14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154680" y="4005072"/>
            <a:ext cx="40233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CI/CD, pruebas E2E, despliegue en Cloud Run y cierre</a:t>
            </a:r>
            <a:endParaRPr lang="en-US" sz="1400" dirty="0"/>
          </a:p>
        </p:txBody>
      </p:sp>
      <p:sp>
        <p:nvSpPr>
          <p:cNvPr id="31" name="Estado Sprint 5"/>
          <p:cNvSpPr/>
          <p:nvPr/>
        </p:nvSpPr>
        <p:spPr>
          <a:xfrm>
            <a:off x="7315200" y="4142232"/>
            <a:ext cx="1234440" cy="338328"/>
          </a:xfrm>
          <a:prstGeom prst="roundRect">
            <a:avLst>
              <a:gd name="adj" fmla="val 48649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7315200" y="4142232"/>
            <a:ext cx="1234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Por iniciar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Gestión ágil del Sprint 3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graphicFrame>
        <p:nvGraphicFramePr>
          <p:cNvPr id="26" name="Burndown Sprint 3"/>
          <p:cNvGraphicFramePr>
            <a:graphicFrameLocks noGrp="1"/>
          </p:cNvGraphicFramePr>
          <p:nvPr/>
        </p:nvGraphicFramePr>
        <p:xfrm>
          <a:off x="457200" y="1188720"/>
          <a:ext cx="512064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arjeta cifra 1"/>
          <p:cNvSpPr/>
          <p:nvPr/>
        </p:nvSpPr>
        <p:spPr>
          <a:xfrm>
            <a:off x="5852160" y="1188720"/>
            <a:ext cx="2834640" cy="10515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852160" y="1261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de 20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81051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puntos completados del compromiso final</a:t>
            </a:r>
            <a:endParaRPr lang="en-US" sz="1400" dirty="0"/>
          </a:p>
        </p:txBody>
      </p:sp>
      <p:sp>
        <p:nvSpPr>
          <p:cNvPr id="100" name="Tarjeta cifra 1"/>
          <p:cNvSpPr/>
          <p:nvPr/>
        </p:nvSpPr>
        <p:spPr>
          <a:xfrm>
            <a:off x="5852160" y="2377440"/>
            <a:ext cx="2834640" cy="105156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1" name="Text 3"/>
          <p:cNvSpPr txBox="1"/>
          <p:nvPr/>
        </p:nvSpPr>
        <p:spPr>
          <a:xfrm>
            <a:off x="5852160" y="2450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102" name="Text 4"/>
          <p:cNvSpPr txBox="1"/>
          <p:nvPr/>
        </p:nvSpPr>
        <p:spPr>
          <a:xfrm>
            <a:off x="5989320" y="2999232"/>
            <a:ext cx="25603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puntos (gráficos e IA) trasladados al Sprint 4</a:t>
            </a:r>
            <a:endParaRPr lang="en-US" sz="1400" dirty="0"/>
          </a:p>
        </p:txBody>
      </p:sp>
      <p:sp>
        <p:nvSpPr>
          <p:cNvPr id="103" name="Tarjeta cifra 1"/>
          <p:cNvSpPr/>
          <p:nvPr/>
        </p:nvSpPr>
        <p:spPr>
          <a:xfrm>
            <a:off x="5852160" y="3566160"/>
            <a:ext cx="2834640" cy="10972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4" name="Text 3"/>
          <p:cNvSpPr txBox="1"/>
          <p:nvPr/>
        </p:nvSpPr>
        <p:spPr>
          <a:xfrm>
            <a:off x="5852160" y="363931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· 24 · 20</a:t>
            </a:r>
            <a:endParaRPr lang="en-US" sz="3000" dirty="0"/>
          </a:p>
        </p:txBody>
      </p:sp>
      <p:sp>
        <p:nvSpPr>
          <p:cNvPr id="105" name="Text 4"/>
          <p:cNvSpPr txBox="1"/>
          <p:nvPr/>
        </p:nvSpPr>
        <p:spPr>
          <a:xfrm>
            <a:off x="5989320" y="418795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tx1"/>
                </a:solidFill>
              </a:rPr>
              <a:t>velocidad en los Sprints 1, 2 y 3 (puntos)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Modelo de datos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5 tablas: empresas, transportistas, reglas_sla, lotes_auditoria y envios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Una empresa carga lotes, cada lote contiene envíos y cada transportista tiene reglas SLA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Script SQL validado en PostgreSQL 16, con datos de prueba y consultas de verificación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SQLite en desarrollo local; PostgreSQL 16 en Cloud SQL al desplegar</a:t>
            </a:r>
            <a:endParaRPr lang="en-US" sz="1600" dirty="0"/>
          </a:p>
        </p:txBody>
      </p:sp>
      <p:sp>
        <p:nvSpPr>
          <p:cNvPr id="4" name="Marco diagrama"/>
          <p:cNvSpPr/>
          <p:nvPr/>
        </p:nvSpPr>
        <p:spPr>
          <a:xfrm>
            <a:off x="6035040" y="1188720"/>
            <a:ext cx="2447591" cy="3703320"/>
          </a:xfrm>
          <a:prstGeom prst="roundRect">
            <a:avLst>
              <a:gd name="adj" fmla="val 2989"/>
            </a:avLst>
          </a:prstGeom>
          <a:solidFill>
            <a:schemeClr val="bg2"/>
          </a:solidFill>
          <a:ln/>
        </p:spPr>
      </p:sp>
      <p:pic>
        <p:nvPicPr>
          <p:cNvPr id="5" name="Image 0" descr="Diagrama entidad-relación de LogiS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2173271" cy="3429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Calidad y pruebas</a:t>
            </a:r>
            <a:endParaRPr lang="en-US" sz="34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188720"/>
          <a:ext cx="40233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irculo check 1"/>
          <p:cNvSpPr/>
          <p:nvPr/>
        </p:nvSpPr>
        <p:spPr>
          <a:xfrm>
            <a:off x="4846320" y="132588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Lis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417320"/>
            <a:ext cx="228600" cy="228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40680" y="1234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escritas junto con cada módulo, sin depender de red ni de una base de datos externa</a:t>
            </a:r>
            <a:endParaRPr lang="en-US" sz="1400" dirty="0"/>
          </a:p>
        </p:txBody>
      </p:sp>
      <p:sp>
        <p:nvSpPr>
          <p:cNvPr id="7" name="Circulo check 2"/>
          <p:cNvSpPr/>
          <p:nvPr/>
        </p:nvSpPr>
        <p:spPr>
          <a:xfrm>
            <a:off x="4846320" y="219456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Lis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286000"/>
            <a:ext cx="228600" cy="2286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40680" y="210312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Cálculo determinístico y probado: la IA del Sprint 4 no modificará montos</a:t>
            </a:r>
            <a:endParaRPr lang="en-US" sz="1400" dirty="0"/>
          </a:p>
        </p:txBody>
      </p:sp>
      <p:sp>
        <p:nvSpPr>
          <p:cNvPr id="10" name="Circulo check 3"/>
          <p:cNvSpPr/>
          <p:nvPr/>
        </p:nvSpPr>
        <p:spPr>
          <a:xfrm>
            <a:off x="4846320" y="306324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Lis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228600" cy="22860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440680" y="29718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Casos límite: columnas no reconocidas, guías sin fecha de entrega y transportista sin regla</a:t>
            </a:r>
            <a:endParaRPr lang="en-US" sz="1400" dirty="0"/>
          </a:p>
        </p:txBody>
      </p:sp>
      <p:sp>
        <p:nvSpPr>
          <p:cNvPr id="13" name="Circulo check 4"/>
          <p:cNvSpPr/>
          <p:nvPr/>
        </p:nvSpPr>
        <p:spPr>
          <a:xfrm>
            <a:off x="4846320" y="3931920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3" descr="Lis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023360"/>
            <a:ext cx="228600" cy="2286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40680" y="38404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Pull Requests con revisión del otro integrante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Ajustes al plan</a:t>
            </a:r>
            <a:endParaRPr lang="en-US" sz="3400" dirty="0"/>
          </a:p>
        </p:txBody>
      </p:sp>
      <p:sp>
        <p:nvSpPr>
          <p:cNvPr id="3" name="Tarjeta ajuste 1"/>
          <p:cNvSpPr/>
          <p:nvPr/>
        </p:nvSpPr>
        <p:spPr>
          <a:xfrm>
            <a:off x="45720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Etiqueta ajuste 1"/>
          <p:cNvSpPr/>
          <p:nvPr/>
        </p:nvSpPr>
        <p:spPr>
          <a:xfrm>
            <a:off x="594360" y="130759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594360" y="13075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ELIMINADO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Mapeo manual de columnas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Un archivo no reconocido se rechaza e indica las columnas que faltan.</a:t>
            </a:r>
            <a:endParaRPr lang="en-US" sz="1400" dirty="0"/>
          </a:p>
        </p:txBody>
      </p:sp>
      <p:sp>
        <p:nvSpPr>
          <p:cNvPr id="8" name="Tarjeta ajuste 2"/>
          <p:cNvSpPr/>
          <p:nvPr/>
        </p:nvSpPr>
        <p:spPr>
          <a:xfrm>
            <a:off x="324612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Etiqueta ajuste 2"/>
          <p:cNvSpPr/>
          <p:nvPr/>
        </p:nvSpPr>
        <p:spPr>
          <a:xfrm>
            <a:off x="3383280" y="130759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3383280" y="13075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SIMPLIFICADO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Regla SLA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Por transportista, con multa fija por guía. Zona y tipo de servicio quedan como mejora.</a:t>
            </a:r>
            <a:endParaRPr lang="en-US" sz="1400" dirty="0"/>
          </a:p>
        </p:txBody>
      </p:sp>
      <p:sp>
        <p:nvSpPr>
          <p:cNvPr id="13" name="Tarjeta ajuste 3"/>
          <p:cNvSpPr/>
          <p:nvPr/>
        </p:nvSpPr>
        <p:spPr>
          <a:xfrm>
            <a:off x="6035040" y="118872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Etiqueta ajuste 3"/>
          <p:cNvSpPr/>
          <p:nvPr/>
        </p:nvSpPr>
        <p:spPr>
          <a:xfrm>
            <a:off x="6172200" y="130759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172200" y="13075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AJUSTADO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Base de datos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SQLite en desarrollo y PostgreSQL al desplegar. Alembic pasa al Sprint 4.</a:t>
            </a:r>
            <a:endParaRPr lang="en-US" sz="1400" dirty="0"/>
          </a:p>
        </p:txBody>
      </p:sp>
      <p:sp>
        <p:nvSpPr>
          <p:cNvPr id="18" name="Tarjeta ajuste 4"/>
          <p:cNvSpPr/>
          <p:nvPr/>
        </p:nvSpPr>
        <p:spPr>
          <a:xfrm>
            <a:off x="45720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Etiqueta ajuste 4"/>
          <p:cNvSpPr/>
          <p:nvPr/>
        </p:nvSpPr>
        <p:spPr>
          <a:xfrm>
            <a:off x="594360" y="309067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594360" y="3090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AJUSTADO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Pruebas del frontend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node:test reemplaza a Jest (Sprint 4). Playwright para las E2E en el Sprint 5.</a:t>
            </a:r>
            <a:endParaRPr lang="en-US" sz="1400" dirty="0"/>
          </a:p>
        </p:txBody>
      </p:sp>
      <p:sp>
        <p:nvSpPr>
          <p:cNvPr id="23" name="Tarjeta ajuste 5"/>
          <p:cNvSpPr/>
          <p:nvPr/>
        </p:nvSpPr>
        <p:spPr>
          <a:xfrm>
            <a:off x="324612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Etiqueta ajuste 5"/>
          <p:cNvSpPr/>
          <p:nvPr/>
        </p:nvSpPr>
        <p:spPr>
          <a:xfrm>
            <a:off x="3383280" y="309067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3383280" y="3090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AJUSTADO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38328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nombres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Next.js 16 en lugar de 14. Tablas nombradas en español.</a:t>
            </a:r>
            <a:endParaRPr lang="en-US" sz="1400" dirty="0"/>
          </a:p>
        </p:txBody>
      </p:sp>
      <p:sp>
        <p:nvSpPr>
          <p:cNvPr id="28" name="Tarjeta ajuste 6"/>
          <p:cNvSpPr/>
          <p:nvPr/>
        </p:nvSpPr>
        <p:spPr>
          <a:xfrm>
            <a:off x="6035040" y="2971800"/>
            <a:ext cx="26517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Etiqueta ajuste 6"/>
          <p:cNvSpPr/>
          <p:nvPr/>
        </p:nvSpPr>
        <p:spPr>
          <a:xfrm>
            <a:off x="6172200" y="3090672"/>
            <a:ext cx="1143000" cy="237744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6172200" y="309067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REPLANIFICADO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3383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Sprint 3 y calendario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3703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Gráficos e IA al Sprint 4. Clase del 13/10 suspendida y del 20/10 en línea: Sprint 4 desde el 28/10.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Dificultades y cómo las enfrentamos</a:t>
            </a:r>
            <a:endParaRPr lang="en-US" sz="3400" dirty="0"/>
          </a:p>
        </p:txBody>
      </p:sp>
      <p:sp>
        <p:nvSpPr>
          <p:cNvPr id="3" name="Fila dificultad 1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Circulo dificultad 1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Backend retomado desde ce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453896"/>
            <a:ext cx="246888" cy="2468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Backend retomado desde cero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188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Sprint 1 extendido a seis semanas; se priorizó el motor de auditoría.</a:t>
            </a:r>
            <a:endParaRPr lang="en-US" sz="1400" dirty="0"/>
          </a:p>
        </p:txBody>
      </p:sp>
      <p:sp>
        <p:nvSpPr>
          <p:cNvPr id="8" name="Fila dificultad 2"/>
          <p:cNvSpPr/>
          <p:nvPr/>
        </p:nvSpPr>
        <p:spPr>
          <a:xfrm>
            <a:off x="457200" y="2075688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Circulo dificultad 2"/>
          <p:cNvSpPr/>
          <p:nvPr/>
        </p:nvSpPr>
        <p:spPr>
          <a:xfrm>
            <a:off x="640080" y="221284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Equipo de práctica bloque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340864"/>
            <a:ext cx="246888" cy="2468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07568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Equipo de práctica bloqueado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20756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Las pruebas se hacen en equipos personales con un script de inicio (iniciar.bat).</a:t>
            </a:r>
            <a:endParaRPr lang="en-US" sz="1400" dirty="0"/>
          </a:p>
        </p:txBody>
      </p:sp>
      <p:sp>
        <p:nvSpPr>
          <p:cNvPr id="13" name="Fila dificultad 3"/>
          <p:cNvSpPr/>
          <p:nvPr/>
        </p:nvSpPr>
        <p:spPr>
          <a:xfrm>
            <a:off x="457200" y="2962656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Circulo dificultad 3"/>
          <p:cNvSpPr/>
          <p:nvPr/>
        </p:nvSpPr>
        <p:spPr>
          <a:xfrm>
            <a:off x="640080" y="3099816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Instalación en Window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227832"/>
            <a:ext cx="246888" cy="24688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Instalación en Windows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2962656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El script verifica las versiones de Python y Node.js y guarda un registro de errores.</a:t>
            </a:r>
            <a:endParaRPr lang="en-US" sz="1400" dirty="0"/>
          </a:p>
        </p:txBody>
      </p:sp>
      <p:sp>
        <p:nvSpPr>
          <p:cNvPr id="18" name="Fila dificultad 4"/>
          <p:cNvSpPr/>
          <p:nvPr/>
        </p:nvSpPr>
        <p:spPr>
          <a:xfrm>
            <a:off x="457200" y="3849624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Circulo dificultad 4"/>
          <p:cNvSpPr/>
          <p:nvPr/>
        </p:nvSpPr>
        <p:spPr>
          <a:xfrm>
            <a:off x="640080" y="3986784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cono sobrecompromiso" descr="Dependencia de la API de IA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4114800"/>
            <a:ext cx="246888" cy="24688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849624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Sobrecompromiso del Sprint 3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4206240" y="3849624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Se cerró con 20 de 36 puntos; gráficos e IA pasan al Sprint 4 y se planifica con la velocidad real.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Próximos pasos: Sprints 4 y 5</a:t>
            </a:r>
            <a:endParaRPr lang="en-US" sz="3400" dirty="0"/>
          </a:p>
        </p:txBody>
      </p:sp>
      <p:sp>
        <p:nvSpPr>
          <p:cNvPr id="3" name="Tarjeta Sprint 4 · Semanas 11 y 12"/>
          <p:cNvSpPr/>
          <p:nvPr/>
        </p:nvSpPr>
        <p:spPr>
          <a:xfrm>
            <a:off x="457200" y="1188720"/>
            <a:ext cx="411480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4 · 28 de octubre al 9 de noviembre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Carta de reclamo y resumen ejecutivo con IA (con plantilla de respaldo), gráficos de multa y atraso, PostgreSQL con Alembic, Docker y pruebas del frontend.</a:t>
            </a:r>
            <a:endParaRPr lang="en-US" sz="1400" dirty="0"/>
          </a:p>
        </p:txBody>
      </p:sp>
      <p:sp>
        <p:nvSpPr>
          <p:cNvPr id="6" name="Tarjeta Sprint 5 · Semanas 13 a 15"/>
          <p:cNvSpPr/>
          <p:nvPr/>
        </p:nvSpPr>
        <p:spPr>
          <a:xfrm>
            <a:off x="457200" y="3017520"/>
            <a:ext cx="411480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312724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Sprint 5 · 10 al 16 de noviembre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6616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CI/CD con GitHub Actions, pruebas E2E con Playwright, despliegue en Cloud Run e informe final. 17 de noviembre: proyecto terminado y funcionando.</a:t>
            </a:r>
            <a:endParaRPr lang="en-US" sz="1400" dirty="0"/>
          </a:p>
        </p:txBody>
      </p:sp>
      <p:sp>
        <p:nvSpPr>
          <p:cNvPr id="9" name="Tarjeta riesgo GCP"/>
          <p:cNvSpPr/>
          <p:nvPr/>
        </p:nvSpPr>
        <p:spPr>
          <a:xfrm>
            <a:off x="4800600" y="1188720"/>
            <a:ext cx="3886200" cy="3520440"/>
          </a:xfrm>
          <a:prstGeom prst="roundRect">
            <a:avLst>
              <a:gd name="adj" fmla="val 259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983480" y="1298448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Medidas ante los riesgos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1783080"/>
            <a:ext cx="3520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Priorizar la IA al inicio del Sprint 4 y revisar el burndown a diario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Plantilla de respaldo si la API de IA falla o demora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Dockerfile en el Sprint 4 y GitHub Actions antes de configurar Cloud Run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Demostración local como respaldo para la defensa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463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giSLA">
  <a:themeElements>
    <a:clrScheme name="LogiSLA">
      <a:dk1>
        <a:srgbClr val="14202E"/>
      </a:dk1>
      <a:lt1>
        <a:srgbClr val="FFFFFF"/>
      </a:lt1>
      <a:dk2>
        <a:srgbClr val="12263F"/>
      </a:dk2>
      <a:lt2>
        <a:srgbClr val="EEF2F6"/>
      </a:lt2>
      <a:accent1>
        <a:srgbClr val="F5A524"/>
      </a:accent1>
      <a:accent2>
        <a:srgbClr val="1F6F8B"/>
      </a:accent2>
      <a:accent3>
        <a:srgbClr val="2E8B5E"/>
      </a:accent3>
      <a:accent4>
        <a:srgbClr val="B8412F"/>
      </a:accent4>
      <a:accent5>
        <a:srgbClr val="5B7083"/>
      </a:accent5>
      <a:accent6>
        <a:srgbClr val="8FB8CC"/>
      </a:accent6>
      <a:hlink>
        <a:srgbClr val="1F6F8B"/>
      </a:hlink>
      <a:folHlink>
        <a:srgbClr val="5B7083"/>
      </a:folHlink>
    </a:clrScheme>
    <a:fontScheme name="LogiSL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1427</Words>
  <Application>Microsoft Office PowerPoint</Application>
  <PresentationFormat>Presentación en pantalla (16:9)</PresentationFormat>
  <Paragraphs>132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LogiSLA</vt:lpstr>
      <vt:lpstr>Presentación de PowerPoint</vt:lpstr>
      <vt:lpstr>Resumen del avance</vt:lpstr>
      <vt:lpstr>Qué hace LogiSLA hoy</vt:lpstr>
      <vt:lpstr>Avance por sprint</vt:lpstr>
      <vt:lpstr>Gestión ágil del Sprint 3</vt:lpstr>
      <vt:lpstr>Modelo de datos</vt:lpstr>
      <vt:lpstr>Calidad y pruebas</vt:lpstr>
      <vt:lpstr>Ajustes al plan</vt:lpstr>
      <vt:lpstr>Dificultades y cómo las enfrentamos</vt:lpstr>
      <vt:lpstr>Próximos pasos: Sprints 4 y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LogiSLA - Presentación de avance Fase 2</dc:title>
  <dc:subject>PptxGenJS Presentation</dc:subject>
  <dc:creator>Sebastián Acuña y José Salvatierra</dc:creator>
  <cp:lastModifiedBy>Usuario</cp:lastModifiedBy>
  <cp:revision>2</cp:revision>
  <dcterms:created xsi:type="dcterms:W3CDTF">2026-10-13T00:56:11Z</dcterms:created>
  <dcterms:modified xsi:type="dcterms:W3CDTF">2026-10-27T02:47:56Z</dcterms:modified>
</cp:coreProperties>
</file>