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4a10676a-2cd8-4dbb-510c-712ab73f808c}">
          <p14:sldIdLst>
            <p14:sldId id="256"/>
          </p14:sldIdLst>
        </p14:section>
        <p14:section name="Avance" id="{fa6f51d1-0268-3bd9-7f84-5f18f3f54172}">
          <p14:sldIdLst>
            <p14:sldId id="257"/>
            <p14:sldId id="258"/>
            <p14:sldId id="259"/>
            <p14:sldId id="260"/>
          </p14:sldIdLst>
        </p14:section>
        <p14:section name="Calidad y ajustes" id="{95c91786-b590-98c4-f1b7-d731e6b1e7a4}">
          <p14:sldIdLst>
            <p14:sldId id="261"/>
            <p14:sldId id="262"/>
            <p14:sldId id="263"/>
          </p14:sldIdLst>
        </p14:section>
        <p14:section name="Cierre" id="{08bb37ad-1952-5863-1569-234391d3df6f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263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263F"/>
                </a:solidFill>
                <a:latin typeface="+mn-lt"/>
              </a:rPr>
              <a:t>Casos automatizados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Casos de prueba</c:v>
                </c:pt>
              </c:strCache>
            </c:strRef>
          </c:tx>
          <c:spPr>
            <a:solidFill>
              <a:srgbClr val="1F6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6F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52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Backend (PyTest)</c:v>
                  </c:pt>
                  <c:pt idx="1">
                    <c:v>Frontend (node:test)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</c:v>
                </c:pt>
                <c:pt idx="1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4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0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5DC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08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avance de LogiSLA al cierre de la semana 10. Se completaron los tres primeros sprints del plan de la Fase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de cinco sprints completados. Los seis objetivos específicos de la Fase 1 se mantienen; solo ajustamos la metodología y lo justificamos en la guía 2.4.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completo del prototipo: cargar el archivo, auditarlo contra las reglas SLA, revisar resultados y generar el reclamo. La IA nunca modifica montos.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Sprint 1 se extendió a seis semanas, como ya preveía el plan de la Fase 1, porque el backend se retomó desde cero. No hay actividades retrasadas: los Sprints 4 y 5 corresponden a las semanas 11 a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entidad-relación completo en el Anexo A de la guía 2.4 y en la carpeta de evidencias de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se escribieron junto al código en cada sprint. Faltan las pruebas end-to-end con Playwright, que corresponden al Sprint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ajuste está justificado en la sección 3 de la guía 2.4. Los objetivos no cambian; los cambios son de metodología y alcance acotado.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dificultad tiene una acción concreta ya aplicada. El bloqueo del computador de la práctica profesional se resolvió probando en equipos personales.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Sprint 4 concentra el mayor riesgo técnico por la curva de aprendizaje de GCP. Las medidas permiten que las pruebas automáticas corran desde el inicio y que la demostración no dependa de la nube.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LogiSLA · Presentación de avance · Fase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LogiSLA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Auditoría automática de SLA de transporte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Presentación de avance · Fase 2 · Proyecto APT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Sebastián Acuña · José Salvatierra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Ingeniería en Informática · Duoc UC · Octubre de 2026</a:t>
            </a:r>
            <a:endParaRPr lang="en-US" sz="1400" dirty="0"/>
          </a:p>
        </p:txBody>
      </p:sp>
      <p:sp>
        <p:nvSpPr>
          <p:cNvPr id="6" name="Circulo avance"/>
          <p:cNvSpPr/>
          <p:nvPr/>
        </p:nvSpPr>
        <p:spPr>
          <a:xfrm>
            <a:off x="5760720" y="1051560"/>
            <a:ext cx="2926080" cy="2926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60720" y="1828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 5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sprints completados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Resumen del avance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 cierre de la semana 10 se completaron los Sprints 1 a 3 del plan de la Fase 1.</a:t>
            </a:r>
            <a:endParaRPr lang="en-US" sz="1600" dirty="0"/>
          </a:p>
        </p:txBody>
      </p:sp>
      <p:sp>
        <p:nvSpPr>
          <p:cNvPr id="4" name="Tarjeta cifra 1"/>
          <p:cNvSpPr/>
          <p:nvPr/>
        </p:nvSpPr>
        <p:spPr>
          <a:xfrm>
            <a:off x="457200" y="1737360"/>
            <a:ext cx="1920240" cy="22402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 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889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sprints completados dentro del plan</a:t>
            </a:r>
            <a:endParaRPr lang="en-US" sz="1400" dirty="0"/>
          </a:p>
        </p:txBody>
      </p:sp>
      <p:sp>
        <p:nvSpPr>
          <p:cNvPr id="7" name="Tarjeta cifra 2"/>
          <p:cNvSpPr/>
          <p:nvPr/>
        </p:nvSpPr>
        <p:spPr>
          <a:xfrm>
            <a:off x="2569464" y="1737360"/>
            <a:ext cx="1920240" cy="22402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69464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706624" y="27889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objetivos específicos se mantienen</a:t>
            </a:r>
            <a:endParaRPr lang="en-US" sz="1400" dirty="0"/>
          </a:p>
        </p:txBody>
      </p:sp>
      <p:sp>
        <p:nvSpPr>
          <p:cNvPr id="10" name="Tarjeta cifra 3"/>
          <p:cNvSpPr/>
          <p:nvPr/>
        </p:nvSpPr>
        <p:spPr>
          <a:xfrm>
            <a:off x="4681728" y="1737360"/>
            <a:ext cx="1920240" cy="22402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81728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818888" y="27889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pruebas automatizadas: 53 en backend y 13 en frontend</a:t>
            </a:r>
            <a:endParaRPr lang="en-US" sz="1400" dirty="0"/>
          </a:p>
        </p:txBody>
      </p:sp>
      <p:sp>
        <p:nvSpPr>
          <p:cNvPr id="13" name="Tarjeta cifra 4"/>
          <p:cNvSpPr/>
          <p:nvPr/>
        </p:nvSpPr>
        <p:spPr>
          <a:xfrm>
            <a:off x="6793992" y="1737360"/>
            <a:ext cx="1920240" cy="22402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93992" y="1874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931152" y="27889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guías en el archivo de prueba del prototipo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Qué hace LogiSLA hoy</a:t>
            </a:r>
            <a:endParaRPr lang="en-US" sz="3400" dirty="0"/>
          </a:p>
        </p:txBody>
      </p:sp>
      <p:sp>
        <p:nvSpPr>
          <p:cNvPr id="3" name="Tarjeta paso 1"/>
          <p:cNvSpPr/>
          <p:nvPr/>
        </p:nvSpPr>
        <p:spPr>
          <a:xfrm>
            <a:off x="457200" y="1325880"/>
            <a:ext cx="1920240" cy="25146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4" name="Circulo icono 1"/>
          <p:cNvSpPr/>
          <p:nvPr/>
        </p:nvSpPr>
        <p:spPr>
          <a:xfrm>
            <a:off x="1097280" y="15087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Carg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Cargar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9748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Archivo CSV o Excel; reconoce las columnas aunque cambien de nombre.</a:t>
            </a:r>
            <a:endParaRPr lang="en-US" sz="1400" dirty="0"/>
          </a:p>
        </p:txBody>
      </p:sp>
      <p:sp>
        <p:nvSpPr>
          <p:cNvPr id="8" name="Flecha 1"/>
          <p:cNvSpPr/>
          <p:nvPr/>
        </p:nvSpPr>
        <p:spPr>
          <a:xfrm>
            <a:off x="2395728" y="2468880"/>
            <a:ext cx="155448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Tarjeta paso 2"/>
          <p:cNvSpPr/>
          <p:nvPr/>
        </p:nvSpPr>
        <p:spPr>
          <a:xfrm>
            <a:off x="2569464" y="1325880"/>
            <a:ext cx="1920240" cy="25146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0" name="Circulo icono 2"/>
          <p:cNvSpPr/>
          <p:nvPr/>
        </p:nvSpPr>
        <p:spPr>
          <a:xfrm>
            <a:off x="3209544" y="15087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Audi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6459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69464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Auditar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706624" y="269748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Horas hábiles, feriados chilenos y multa según la regla SLA.</a:t>
            </a:r>
            <a:endParaRPr lang="en-US" sz="1400" dirty="0"/>
          </a:p>
        </p:txBody>
      </p:sp>
      <p:sp>
        <p:nvSpPr>
          <p:cNvPr id="14" name="Flecha 2"/>
          <p:cNvSpPr/>
          <p:nvPr/>
        </p:nvSpPr>
        <p:spPr>
          <a:xfrm>
            <a:off x="4507992" y="2468880"/>
            <a:ext cx="155448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Tarjeta paso 3"/>
          <p:cNvSpPr/>
          <p:nvPr/>
        </p:nvSpPr>
        <p:spPr>
          <a:xfrm>
            <a:off x="4681728" y="1325880"/>
            <a:ext cx="1920240" cy="25146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6" name="Circulo icono 3"/>
          <p:cNvSpPr/>
          <p:nvPr/>
        </p:nvSpPr>
        <p:spPr>
          <a:xfrm>
            <a:off x="5321808" y="15087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Revis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645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81728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Revisar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4818888" y="269748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 con gráficos, filtros, búsqueda y descarga en CSV.</a:t>
            </a:r>
            <a:endParaRPr lang="en-US" sz="1400" dirty="0"/>
          </a:p>
        </p:txBody>
      </p:sp>
      <p:sp>
        <p:nvSpPr>
          <p:cNvPr id="20" name="Flecha 3"/>
          <p:cNvSpPr/>
          <p:nvPr/>
        </p:nvSpPr>
        <p:spPr>
          <a:xfrm>
            <a:off x="6620256" y="2468880"/>
            <a:ext cx="155448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1" name="Tarjeta paso 4"/>
          <p:cNvSpPr/>
          <p:nvPr/>
        </p:nvSpPr>
        <p:spPr>
          <a:xfrm>
            <a:off x="6793992" y="1325880"/>
            <a:ext cx="1920240" cy="25146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2" name="Circulo icono 4"/>
          <p:cNvSpPr/>
          <p:nvPr/>
        </p:nvSpPr>
        <p:spPr>
          <a:xfrm>
            <a:off x="7434072" y="15087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mage 3" descr="Reclam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6459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93992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Reclamar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931152" y="269748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Carta de reclamo y resumen ejecutivo redactados con IA.</a:t>
            </a:r>
            <a:endParaRPr lang="en-US" sz="1400" dirty="0"/>
          </a:p>
        </p:txBody>
      </p:sp>
      <p:sp>
        <p:nvSpPr>
          <p:cNvPr id="26" name="Banner IA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 IA solo redacta el texto. Las cifras y el anexo de guías y multas los genera siempre el sistema.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Avance por sprint</a:t>
            </a:r>
            <a:endParaRPr lang="en-US" sz="3400" dirty="0"/>
          </a:p>
        </p:txBody>
      </p:sp>
      <p:sp>
        <p:nvSpPr>
          <p:cNvPr id="3" name="Fila Sprint 1"/>
          <p:cNvSpPr/>
          <p:nvPr/>
        </p:nvSpPr>
        <p:spPr>
          <a:xfrm>
            <a:off x="457200" y="1188720"/>
            <a:ext cx="8229600" cy="612648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051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Sprint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188720"/>
            <a:ext cx="1371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Semanas 1 a 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188720"/>
            <a:ext cx="4023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Modelo de 5 tablas, API de carga y reconocimiento de columnas</a:t>
            </a:r>
            <a:endParaRPr lang="en-US" sz="1400" dirty="0"/>
          </a:p>
        </p:txBody>
      </p:sp>
      <p:sp>
        <p:nvSpPr>
          <p:cNvPr id="7" name="Estado Sprint 1"/>
          <p:cNvSpPr/>
          <p:nvPr/>
        </p:nvSpPr>
        <p:spPr>
          <a:xfrm>
            <a:off x="7315200" y="1325880"/>
            <a:ext cx="1234440" cy="338328"/>
          </a:xfrm>
          <a:prstGeom prst="roundRect">
            <a:avLst>
              <a:gd name="adj" fmla="val 48649"/>
            </a:avLst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0" y="1325880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Completado</a:t>
            </a:r>
            <a:endParaRPr lang="en-US" sz="1200" dirty="0"/>
          </a:p>
        </p:txBody>
      </p:sp>
      <p:sp>
        <p:nvSpPr>
          <p:cNvPr id="9" name="Fila Sprint 2"/>
          <p:cNvSpPr/>
          <p:nvPr/>
        </p:nvSpPr>
        <p:spPr>
          <a:xfrm>
            <a:off x="457200" y="1892808"/>
            <a:ext cx="8229600" cy="612648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892808"/>
            <a:ext cx="1051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Sprint 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1892808"/>
            <a:ext cx="1371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Semanas 7 y 8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892808"/>
            <a:ext cx="4023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Motor de auditoría: horas hábiles, feriados y multas</a:t>
            </a:r>
            <a:endParaRPr lang="en-US" sz="1400" dirty="0"/>
          </a:p>
        </p:txBody>
      </p:sp>
      <p:sp>
        <p:nvSpPr>
          <p:cNvPr id="13" name="Estado Sprint 2"/>
          <p:cNvSpPr/>
          <p:nvPr/>
        </p:nvSpPr>
        <p:spPr>
          <a:xfrm>
            <a:off x="7315200" y="2029968"/>
            <a:ext cx="1234440" cy="338328"/>
          </a:xfrm>
          <a:prstGeom prst="roundRect">
            <a:avLst>
              <a:gd name="adj" fmla="val 48649"/>
            </a:avLst>
          </a:prstGeom>
          <a:solidFill>
            <a:schemeClr val="accent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0" y="202996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Completado</a:t>
            </a:r>
            <a:endParaRPr lang="en-US" sz="1200" dirty="0"/>
          </a:p>
        </p:txBody>
      </p:sp>
      <p:sp>
        <p:nvSpPr>
          <p:cNvPr id="15" name="Fila Sprint 3"/>
          <p:cNvSpPr/>
          <p:nvPr/>
        </p:nvSpPr>
        <p:spPr>
          <a:xfrm>
            <a:off x="457200" y="2596896"/>
            <a:ext cx="8229600" cy="612648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596896"/>
            <a:ext cx="1051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Sprint 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2596896"/>
            <a:ext cx="1371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Semanas 9 y 10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154680" y="2596896"/>
            <a:ext cx="4023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 con gráficos y módulo de IA para el reclamo</a:t>
            </a:r>
            <a:endParaRPr lang="en-US" sz="1400" dirty="0"/>
          </a:p>
        </p:txBody>
      </p:sp>
      <p:sp>
        <p:nvSpPr>
          <p:cNvPr id="19" name="Estado Sprint 3"/>
          <p:cNvSpPr/>
          <p:nvPr/>
        </p:nvSpPr>
        <p:spPr>
          <a:xfrm>
            <a:off x="7315200" y="2734056"/>
            <a:ext cx="1234440" cy="338328"/>
          </a:xfrm>
          <a:prstGeom prst="roundRect">
            <a:avLst>
              <a:gd name="adj" fmla="val 48649"/>
            </a:avLst>
          </a:prstGeom>
          <a:solidFill>
            <a:schemeClr val="accent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0" y="2734056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Completado</a:t>
            </a:r>
            <a:endParaRPr lang="en-US" sz="1200" dirty="0"/>
          </a:p>
        </p:txBody>
      </p:sp>
      <p:sp>
        <p:nvSpPr>
          <p:cNvPr id="21" name="Fila Sprint 4"/>
          <p:cNvSpPr/>
          <p:nvPr/>
        </p:nvSpPr>
        <p:spPr>
          <a:xfrm>
            <a:off x="457200" y="3300984"/>
            <a:ext cx="8229600" cy="612648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300984"/>
            <a:ext cx="1051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Sprint 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737360" y="3300984"/>
            <a:ext cx="1371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Semanas 11 y 12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154680" y="3300984"/>
            <a:ext cx="4023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Despliegue en GCP, CI/CD y pruebas E2E</a:t>
            </a:r>
            <a:endParaRPr lang="en-US" sz="1400" dirty="0"/>
          </a:p>
        </p:txBody>
      </p:sp>
      <p:sp>
        <p:nvSpPr>
          <p:cNvPr id="25" name="Estado Sprint 4"/>
          <p:cNvSpPr/>
          <p:nvPr/>
        </p:nvSpPr>
        <p:spPr>
          <a:xfrm>
            <a:off x="7315200" y="3438144"/>
            <a:ext cx="1234440" cy="338328"/>
          </a:xfrm>
          <a:prstGeom prst="roundRect">
            <a:avLst>
              <a:gd name="adj" fmla="val 48649"/>
            </a:avLst>
          </a:prstGeom>
          <a:solidFill>
            <a:schemeClr val="accent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0" y="3438144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 iniciado</a:t>
            </a:r>
            <a:endParaRPr lang="en-US" sz="1200" dirty="0"/>
          </a:p>
        </p:txBody>
      </p:sp>
      <p:sp>
        <p:nvSpPr>
          <p:cNvPr id="27" name="Fila Sprint 5"/>
          <p:cNvSpPr/>
          <p:nvPr/>
        </p:nvSpPr>
        <p:spPr>
          <a:xfrm>
            <a:off x="457200" y="4005072"/>
            <a:ext cx="8229600" cy="612648"/>
          </a:xfrm>
          <a:prstGeom prst="roundRect">
            <a:avLst>
              <a:gd name="adj" fmla="val 11940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4005072"/>
            <a:ext cx="1051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Sprint 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4005072"/>
            <a:ext cx="1371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Semanas 13 a 15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154680" y="4005072"/>
            <a:ext cx="4023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Cierre, documentación y defensa</a:t>
            </a:r>
            <a:endParaRPr lang="en-US" sz="1400" dirty="0"/>
          </a:p>
        </p:txBody>
      </p:sp>
      <p:sp>
        <p:nvSpPr>
          <p:cNvPr id="31" name="Estado Sprint 5"/>
          <p:cNvSpPr/>
          <p:nvPr/>
        </p:nvSpPr>
        <p:spPr>
          <a:xfrm>
            <a:off x="7315200" y="4142232"/>
            <a:ext cx="1234440" cy="338328"/>
          </a:xfrm>
          <a:prstGeom prst="roundRect">
            <a:avLst>
              <a:gd name="adj" fmla="val 48649"/>
            </a:avLst>
          </a:prstGeom>
          <a:solidFill>
            <a:schemeClr val="accent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0" y="4142232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 iniciado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Modelo de datos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5 tablas: empresas, transportistas, reglas_sla, lotes_auditoria y envios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Una empresa carga lotes, cada lote contiene envíos y cada transportista tiene reglas SLA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Script SQL validado en PostgreSQL 16, con datos de prueba y consultas de verificación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SQLite en desarrollo local; PostgreSQL 16 en Cloud SQL al desplegar</a:t>
            </a:r>
            <a:endParaRPr lang="en-US" sz="1600" dirty="0"/>
          </a:p>
        </p:txBody>
      </p:sp>
      <p:sp>
        <p:nvSpPr>
          <p:cNvPr id="4" name="Marco diagrama"/>
          <p:cNvSpPr/>
          <p:nvPr/>
        </p:nvSpPr>
        <p:spPr>
          <a:xfrm>
            <a:off x="6035040" y="1188720"/>
            <a:ext cx="2447591" cy="3703320"/>
          </a:xfrm>
          <a:prstGeom prst="roundRect">
            <a:avLst>
              <a:gd name="adj" fmla="val 2989"/>
            </a:avLst>
          </a:prstGeom>
          <a:solidFill>
            <a:schemeClr val="bg2"/>
          </a:solidFill>
          <a:ln/>
        </p:spPr>
      </p:sp>
      <p:pic>
        <p:nvPicPr>
          <p:cNvPr id="5" name="Image 0" descr="Diagrama entidad-relación de LogiS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325880"/>
            <a:ext cx="2173271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Calidad y pruebas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irculo check 1"/>
          <p:cNvSpPr/>
          <p:nvPr/>
        </p:nvSpPr>
        <p:spPr>
          <a:xfrm>
            <a:off x="4846320" y="132588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Lis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228600" cy="228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40680" y="12344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Pruebas escritas junto con cada módulo, sin depender de red ni de una base de datos externa</a:t>
            </a:r>
            <a:endParaRPr lang="en-US" sz="1400" dirty="0"/>
          </a:p>
        </p:txBody>
      </p:sp>
      <p:sp>
        <p:nvSpPr>
          <p:cNvPr id="7" name="Circulo check 2"/>
          <p:cNvSpPr/>
          <p:nvPr/>
        </p:nvSpPr>
        <p:spPr>
          <a:xfrm>
            <a:off x="4846320" y="219456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mage 1" descr="Lis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86000"/>
            <a:ext cx="22860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40680" y="21031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Cálculo determinístico y probado: la IA nunca modifica los montos</a:t>
            </a:r>
            <a:endParaRPr lang="en-US" sz="1400" dirty="0"/>
          </a:p>
        </p:txBody>
      </p:sp>
      <p:sp>
        <p:nvSpPr>
          <p:cNvPr id="10" name="Circulo check 3"/>
          <p:cNvSpPr/>
          <p:nvPr/>
        </p:nvSpPr>
        <p:spPr>
          <a:xfrm>
            <a:off x="4846320" y="30632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2" descr="Lis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5468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440680" y="29718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Casos límite: columnas no reconocidas, guías sin fecha, transportista sin regla y caída de la IA</a:t>
            </a:r>
            <a:endParaRPr lang="en-US" sz="1400" dirty="0"/>
          </a:p>
        </p:txBody>
      </p:sp>
      <p:sp>
        <p:nvSpPr>
          <p:cNvPr id="13" name="Circulo check 4"/>
          <p:cNvSpPr/>
          <p:nvPr/>
        </p:nvSpPr>
        <p:spPr>
          <a:xfrm>
            <a:off x="4846320" y="393192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Image 3" descr="Lis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023360"/>
            <a:ext cx="228600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440680" y="38404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Pull Requests con revisión del otro integrante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Ajustes al plan</a:t>
            </a:r>
            <a:endParaRPr lang="en-US" sz="3400" dirty="0"/>
          </a:p>
        </p:txBody>
      </p:sp>
      <p:sp>
        <p:nvSpPr>
          <p:cNvPr id="3" name="Tarjeta ajuste 1"/>
          <p:cNvSpPr/>
          <p:nvPr/>
        </p:nvSpPr>
        <p:spPr>
          <a:xfrm>
            <a:off x="457200" y="1188720"/>
            <a:ext cx="26517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4" name="Etiqueta ajuste 1"/>
          <p:cNvSpPr/>
          <p:nvPr/>
        </p:nvSpPr>
        <p:spPr>
          <a:xfrm>
            <a:off x="594360" y="1307592"/>
            <a:ext cx="114300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0759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ELIMINADO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Mapeo manual de columnas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archivo no reconocido se rechaza e indica las columnas que faltan.</a:t>
            </a:r>
            <a:endParaRPr lang="en-US" sz="1400" dirty="0"/>
          </a:p>
        </p:txBody>
      </p:sp>
      <p:sp>
        <p:nvSpPr>
          <p:cNvPr id="8" name="Tarjeta ajuste 2"/>
          <p:cNvSpPr/>
          <p:nvPr/>
        </p:nvSpPr>
        <p:spPr>
          <a:xfrm>
            <a:off x="3246120" y="1188720"/>
            <a:ext cx="26517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9" name="Etiqueta ajuste 2"/>
          <p:cNvSpPr/>
          <p:nvPr/>
        </p:nvSpPr>
        <p:spPr>
          <a:xfrm>
            <a:off x="3383280" y="1307592"/>
            <a:ext cx="114300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30759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SIMPLIFICADO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Regla SLA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 transportista y tipo de servicio, con multa fija. La zona queda como mejora.</a:t>
            </a:r>
            <a:endParaRPr lang="en-US" sz="1400" dirty="0"/>
          </a:p>
        </p:txBody>
      </p:sp>
      <p:sp>
        <p:nvSpPr>
          <p:cNvPr id="13" name="Tarjeta ajuste 3"/>
          <p:cNvSpPr/>
          <p:nvPr/>
        </p:nvSpPr>
        <p:spPr>
          <a:xfrm>
            <a:off x="6035040" y="1188720"/>
            <a:ext cx="26517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4" name="Etiqueta ajuste 3"/>
          <p:cNvSpPr/>
          <p:nvPr/>
        </p:nvSpPr>
        <p:spPr>
          <a:xfrm>
            <a:off x="6172200" y="1307592"/>
            <a:ext cx="114300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130759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AJUSTADO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Base de datos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SQLite en desarrollo y PostgreSQL al desplegar. Alembic pasa al Sprint 4.</a:t>
            </a:r>
            <a:endParaRPr lang="en-US" sz="1400" dirty="0"/>
          </a:p>
        </p:txBody>
      </p:sp>
      <p:sp>
        <p:nvSpPr>
          <p:cNvPr id="18" name="Tarjeta ajuste 4"/>
          <p:cNvSpPr/>
          <p:nvPr/>
        </p:nvSpPr>
        <p:spPr>
          <a:xfrm>
            <a:off x="457200" y="2971800"/>
            <a:ext cx="26517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9" name="Etiqueta ajuste 4"/>
          <p:cNvSpPr/>
          <p:nvPr/>
        </p:nvSpPr>
        <p:spPr>
          <a:xfrm>
            <a:off x="594360" y="3090672"/>
            <a:ext cx="114300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0906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AJUSTADO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Pruebas del frontend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703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node:test reemplaza a Jest. Playwright se mantiene para el Sprint 4.</a:t>
            </a:r>
            <a:endParaRPr lang="en-US" sz="1400" dirty="0"/>
          </a:p>
        </p:txBody>
      </p:sp>
      <p:sp>
        <p:nvSpPr>
          <p:cNvPr id="23" name="Tarjeta ajuste 5"/>
          <p:cNvSpPr/>
          <p:nvPr/>
        </p:nvSpPr>
        <p:spPr>
          <a:xfrm>
            <a:off x="3246120" y="2971800"/>
            <a:ext cx="26517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4" name="Etiqueta ajuste 5"/>
          <p:cNvSpPr/>
          <p:nvPr/>
        </p:nvSpPr>
        <p:spPr>
          <a:xfrm>
            <a:off x="3383280" y="3090672"/>
            <a:ext cx="114300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383280" y="30906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AJUSTADO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Tecnología y nombres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703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Next.js 16 en lugar de 14. Tablas nombradas en español.</a:t>
            </a:r>
            <a:endParaRPr lang="en-US" sz="1400" dirty="0"/>
          </a:p>
        </p:txBody>
      </p:sp>
      <p:sp>
        <p:nvSpPr>
          <p:cNvPr id="28" name="Tarjeta ajuste 6"/>
          <p:cNvSpPr/>
          <p:nvPr/>
        </p:nvSpPr>
        <p:spPr>
          <a:xfrm>
            <a:off x="6035040" y="2971800"/>
            <a:ext cx="26517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9" name="Etiqueta ajuste 6"/>
          <p:cNvSpPr/>
          <p:nvPr/>
        </p:nvSpPr>
        <p:spPr>
          <a:xfrm>
            <a:off x="6172200" y="3090672"/>
            <a:ext cx="114300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72200" y="30906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AGREGADO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IA con respaldo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703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la API falla, el documento se genera con una plantilla.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Dificultades y cómo las enfrentamos</a:t>
            </a:r>
            <a:endParaRPr lang="en-US" sz="3400" dirty="0"/>
          </a:p>
        </p:txBody>
      </p:sp>
      <p:sp>
        <p:nvSpPr>
          <p:cNvPr id="3" name="Fila dificultad 1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4" name="Circulo dificultad 1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Backend retomado desde c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45389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88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Backend retomado desde cero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11887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Sprint 1 extendido a seis semanas; se priorizó el motor de auditoría.</a:t>
            </a:r>
            <a:endParaRPr lang="en-US" sz="1400" dirty="0"/>
          </a:p>
        </p:txBody>
      </p:sp>
      <p:sp>
        <p:nvSpPr>
          <p:cNvPr id="8" name="Fila dificultad 2"/>
          <p:cNvSpPr/>
          <p:nvPr/>
        </p:nvSpPr>
        <p:spPr>
          <a:xfrm>
            <a:off x="457200" y="2075688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9" name="Circulo dificultad 2"/>
          <p:cNvSpPr/>
          <p:nvPr/>
        </p:nvSpPr>
        <p:spPr>
          <a:xfrm>
            <a:off x="640080" y="221284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Equipo de práctica bloque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340864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0756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Equipo de práctica bloqueado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206240" y="207568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pruebas se hacen en equipos personales con un script de inicio (iniciar.bat).</a:t>
            </a:r>
            <a:endParaRPr lang="en-US" sz="1400" dirty="0"/>
          </a:p>
        </p:txBody>
      </p:sp>
      <p:sp>
        <p:nvSpPr>
          <p:cNvPr id="13" name="Fila dificultad 3"/>
          <p:cNvSpPr/>
          <p:nvPr/>
        </p:nvSpPr>
        <p:spPr>
          <a:xfrm>
            <a:off x="457200" y="2962656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4" name="Circulo dificultad 3"/>
          <p:cNvSpPr/>
          <p:nvPr/>
        </p:nvSpPr>
        <p:spPr>
          <a:xfrm>
            <a:off x="640080" y="3099816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Instalación en Window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227832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96265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Instalación en Windows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206240" y="296265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script verifica las versiones de Python y Node.js y guarda un registro de errores.</a:t>
            </a:r>
            <a:endParaRPr lang="en-US" sz="1400" dirty="0"/>
          </a:p>
        </p:txBody>
      </p:sp>
      <p:sp>
        <p:nvSpPr>
          <p:cNvPr id="18" name="Fila dificultad 4"/>
          <p:cNvSpPr/>
          <p:nvPr/>
        </p:nvSpPr>
        <p:spPr>
          <a:xfrm>
            <a:off x="457200" y="3849624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9" name="Circulo dificultad 4"/>
          <p:cNvSpPr/>
          <p:nvPr/>
        </p:nvSpPr>
        <p:spPr>
          <a:xfrm>
            <a:off x="640080" y="3986784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3" descr="Dependencia de la API de I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114800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84962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Dependencia de la API de IA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206240" y="384962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Tiempo máximo de espera configurable y plantilla de respaldo.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Próximos pasos: Sprints 4 y 5</a:t>
            </a:r>
            <a:endParaRPr lang="en-US" sz="3400" dirty="0"/>
          </a:p>
        </p:txBody>
      </p:sp>
      <p:sp>
        <p:nvSpPr>
          <p:cNvPr id="3" name="Tarjeta Sprint 4 · Semanas 11 y 12"/>
          <p:cNvSpPr/>
          <p:nvPr/>
        </p:nvSpPr>
        <p:spPr>
          <a:xfrm>
            <a:off x="457200" y="1188720"/>
            <a:ext cx="411480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Sprint 4 · Semanas 11 y 12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Docker, Cloud Run, Cloud SQL y Secret Manager. GitHub Actions. Pruebas E2E con Playwright y migraciones con Alembic.</a:t>
            </a:r>
            <a:endParaRPr lang="en-US" sz="1400" dirty="0"/>
          </a:p>
        </p:txBody>
      </p:sp>
      <p:sp>
        <p:nvSpPr>
          <p:cNvPr id="6" name="Tarjeta Sprint 5 · Semanas 13 a 15"/>
          <p:cNvSpPr/>
          <p:nvPr/>
        </p:nvSpPr>
        <p:spPr>
          <a:xfrm>
            <a:off x="457200" y="3017520"/>
            <a:ext cx="411480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1272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Sprint 5 · Semanas 13 a 15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Cierre y documentación, reporte de pruebas consolidado y preparación de la defensa.</a:t>
            </a:r>
            <a:endParaRPr lang="en-US" sz="1400" dirty="0"/>
          </a:p>
        </p:txBody>
      </p:sp>
      <p:sp>
        <p:nvSpPr>
          <p:cNvPr id="9" name="Tarjeta riesgo GCP"/>
          <p:cNvSpPr/>
          <p:nvPr/>
        </p:nvSpPr>
        <p:spPr>
          <a:xfrm>
            <a:off x="4800600" y="1188720"/>
            <a:ext cx="3886200" cy="3520440"/>
          </a:xfrm>
          <a:prstGeom prst="roundRect">
            <a:avLst>
              <a:gd name="adj" fmla="val 2597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83480" y="12984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Medidas ante el riesgo de GCP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783080"/>
            <a:ext cx="3520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Semana 11: Dockerfile y GitHub Actions antes de configurar Cloud Run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Capa gratuita de GCP y API key en Secret Manager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Pruebas E2E primero en local y luego en lo desplegado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Demostración local como respaldo para la defensa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giSLA">
  <a:themeElements>
    <a:clrScheme name="LogiSLA">
      <a:dk1>
        <a:srgbClr val="14202E"/>
      </a:dk1>
      <a:lt1>
        <a:srgbClr val="FFFFFF"/>
      </a:lt1>
      <a:dk2>
        <a:srgbClr val="12263F"/>
      </a:dk2>
      <a:lt2>
        <a:srgbClr val="EEF2F6"/>
      </a:lt2>
      <a:accent1>
        <a:srgbClr val="F5A524"/>
      </a:accent1>
      <a:accent2>
        <a:srgbClr val="1F6F8B"/>
      </a:accent2>
      <a:accent3>
        <a:srgbClr val="2E8B5E"/>
      </a:accent3>
      <a:accent4>
        <a:srgbClr val="B8412F"/>
      </a:accent4>
      <a:accent5>
        <a:srgbClr val="5B7083"/>
      </a:accent5>
      <a:accent6>
        <a:srgbClr val="8FB8CC"/>
      </a:accent6>
      <a:hlink>
        <a:srgbClr val="1F6F8B"/>
      </a:hlink>
      <a:folHlink>
        <a:srgbClr val="5B7083"/>
      </a:folHlink>
    </a:clrScheme>
    <a:fontScheme name="LogiSL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LogiSLA - Presentación de avance Fase 2</dc:title>
  <dc:subject>PptxGenJS Presentation</dc:subject>
  <dc:creator>Sebastián Acuña y José Salvatierra</dc:creator>
  <cp:lastModifiedBy>Sebastián Acuña y José Salvatierra</cp:lastModifiedBy>
  <cp:revision>1</cp:revision>
  <dcterms:created xsi:type="dcterms:W3CDTF">2026-10-13T00:56:11Z</dcterms:created>
  <dcterms:modified xsi:type="dcterms:W3CDTF">2026-10-13T00:56:11Z</dcterms:modified>
</cp:coreProperties>
</file>